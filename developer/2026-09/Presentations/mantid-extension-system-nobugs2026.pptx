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0726B2-E071-4D34-95FF-0C2E4728E27B}" v="41" dt="2026-09-15T19:53:14.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AA9E5B4-D1D7-46DE-81A5-B68451AC0377}" type="datetimeFigureOut">
              <a:t>9/21/2026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63E4540A-02E0-4EE6-929C-98BB81E01447}" type="slidenum">
              <a:t>‹#›</a:t>
            </a:fld>
            <a:endParaRPr lang="en-US"/>
          </a:p>
        </p:txBody>
      </p:sp>
    </p:spTree>
    <p:extLst>
      <p:ext uri="{BB962C8B-B14F-4D97-AF65-F5344CB8AC3E}">
        <p14:creationId xmlns:p14="http://schemas.microsoft.com/office/powerpoint/2010/main" val="3981826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briefly. Land the title fast: too big to fail protects things by being too important to let go. Mantid's size does the opposite, it slows down the people who keep it alive. That tension is the whole talk. 10 minutes, then this room takes over.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beats, said plainly, no rhetorical build-up needed: Mantid already does real science well, keep that. It's fallen short of some things over the years, fix those. Users have real, routine needs the current system doesn't always meet, meet those. And whatever comes next has to be able to grow without repeating this same conversation in another decade.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here. Goal 1 is deliberately concrete: complete and fast, not a vaguer 'run the science well'. Goal 3: provenance isn't an optional extra bolted on if someone remembers, it's part of what the job means, with room for each site to shape how. Everything after this slide is either proof against one of these five, or an open question about how far to take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goal 2 made concrete, and it's easy to oversell with a clean box diagram. Be upfront that this simplifies a lot: there's an ABI contract underneath (mantid-abi), a code generator (mantid-sdk-generate) that produces the C++ shims and Python bindings, and conda packaging resolved by pixi, five separate packages coming together into one environment. The diagram is a sketch of the shape, not the whole pipeline.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everything ahead of time so this is just a rerun, not a full build from scratch. If it hangs or the room's network is unreliable, don't fight it, move straight to the next slide, the captured output there is the exact same thing this command would print.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this up before showing the terminal: these five chips are five separately built, separately versioned conda packages, one of them Rust, one of them wrapping real Mantid data. Nothing here is one program. The output below only exists because pixi resolved all five into a single environment. Without that context the text just looks like console noise.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slide that has to land before the next slide means anything. Walk through the shape out loud: compartmentalize first, wrap the legacy model behind that interface second, replace pieces incrementally third, and only at the end swap in the new Arrow-native backend, in theory with zero algorithm changes at that final step either.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what's actually done here, it's easy to oversell this. A git clone, compiler errors driving out the true minimal dependency set, then the exact compiled ScaleWorkspace binary running correctly against the Mantid-backed catalog, that part is confirmed. What's not done yet: packaging mantid-histogram, importing it into the catalog project, and having an extension pull that in as a resolved conda dependency chain through pixi. Right now it's compiled and linked directly, siloed in its own test, not through the packaging pipeline end to end. Mention that directly if asked.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slightly here. Each of these is a named gap from building the PoC. MatrixWorkspace: the complexity is in decoupling it, not counting files. Extension-point plugins: this is really an ABI-scope question, Fit could take an external .so library behind a standard interface without that interface living in the shared ABI at all, so the live question is when something belongs in the shared contract versus when it's the hosting algorithm's own business, and how that scales as more algorithms want plugin points. Workflows: deliberately not calling this 'orchestration' anymore, a workflow is a metaprocess in its own right, not just an algorithm calling other algorithms, and treating it as its own concept keeps the algorithm abstraction itself simple. Migration pacing: the instruments themselves aren't changing, this is purely about how fast the software underneath can move. Don't over-promise solutions to any of these here, that's what the next slide is for.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then stop talking. Pick whichever one the room reacts to first and let it run. Disagreement is the useful outcome here, more than consensus. Q2 is deliberately narrower than the others, calibration and normalization files are a concrete, practical case of provenance and reproducibility that this room actually handles day to day, and the ask is what tooling should exist by default rather than what each site has to build itself. Q3 is really two questions folded into one: what makes something belong in Core, and whether that's the same test as what should migrate first. Worth letting the room sit with that connection rather than rushing to an answer. Q4 is deliberately open and asked straight: this room has decades of combined history with the codebase that this whole PoC doesn't, so ask it plainly, what's been missed, not just about MatrixWorkspace specifically.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talk/assets/ornl_logo_green.png"/>
          <p:cNvPicPr>
            <a:picLocks noChangeAspect="1"/>
          </p:cNvPicPr>
          <p:nvPr/>
        </p:nvPicPr>
        <p:blipFill>
          <a:blip r:embed="rId3"/>
          <a:stretch>
            <a:fillRect/>
          </a:stretch>
        </p:blipFill>
        <p:spPr>
          <a:xfrm>
            <a:off x="822960" y="502920"/>
            <a:ext cx="2377440" cy="571537"/>
          </a:xfrm>
          <a:prstGeom prst="rect">
            <a:avLst/>
          </a:prstGeom>
        </p:spPr>
      </p:pic>
      <p:sp>
        <p:nvSpPr>
          <p:cNvPr id="3" name="Text 0"/>
          <p:cNvSpPr/>
          <p:nvPr/>
        </p:nvSpPr>
        <p:spPr>
          <a:xfrm>
            <a:off x="822960" y="2148840"/>
            <a:ext cx="9144000" cy="320040"/>
          </a:xfrm>
          <a:prstGeom prst="rect">
            <a:avLst/>
          </a:prstGeom>
          <a:noFill/>
          <a:ln/>
        </p:spPr>
        <p:txBody>
          <a:bodyPr wrap="square" lIns="0" tIns="0" rIns="0" bIns="0" rtlCol="0" anchor="ctr"/>
          <a:lstStyle/>
          <a:p>
            <a:pPr marL="0" indent="0" algn="l">
              <a:buNone/>
            </a:pPr>
            <a:r>
              <a:rPr lang="en-US" sz="1300" b="1" kern="0" spc="100" dirty="0">
                <a:solidFill>
                  <a:srgbClr val="373A36"/>
                </a:solidFill>
                <a:latin typeface="Roboto" pitchFamily="34" charset="0"/>
                <a:ea typeface="Roboto" pitchFamily="34" charset="-122"/>
                <a:cs typeface="Roboto" pitchFamily="34" charset="-120"/>
              </a:rPr>
              <a:t>NOBUGS 2026  ·  MANTID DEVELOPER SATELLITE MEETING</a:t>
            </a:r>
            <a:endParaRPr lang="en-US" sz="1300" dirty="0"/>
          </a:p>
        </p:txBody>
      </p:sp>
      <p:sp>
        <p:nvSpPr>
          <p:cNvPr id="4" name="Text 1"/>
          <p:cNvSpPr/>
          <p:nvPr/>
        </p:nvSpPr>
        <p:spPr>
          <a:xfrm>
            <a:off x="822960" y="2468880"/>
            <a:ext cx="10058400" cy="1005840"/>
          </a:xfrm>
          <a:prstGeom prst="rect">
            <a:avLst/>
          </a:prstGeom>
          <a:noFill/>
          <a:ln/>
        </p:spPr>
        <p:txBody>
          <a:bodyPr wrap="square" lIns="0" tIns="0" rIns="0" bIns="0" rtlCol="0" anchor="ctr"/>
          <a:lstStyle/>
          <a:p>
            <a:pPr marL="0" indent="0" algn="l">
              <a:buNone/>
            </a:pPr>
            <a:r>
              <a:rPr lang="en-US" sz="4200" b="1" dirty="0">
                <a:solidFill>
                  <a:srgbClr val="373A36"/>
                </a:solidFill>
                <a:latin typeface="Roboto Black" pitchFamily="34" charset="0"/>
                <a:ea typeface="Roboto Black" pitchFamily="34" charset="-122"/>
                <a:cs typeface="Roboto Black" pitchFamily="34" charset="-120"/>
              </a:rPr>
              <a:t>Too Big to Succeed</a:t>
            </a:r>
            <a:endParaRPr lang="en-US" sz="4200" dirty="0"/>
          </a:p>
        </p:txBody>
      </p:sp>
      <p:sp>
        <p:nvSpPr>
          <p:cNvPr id="5" name="Shape 2"/>
          <p:cNvSpPr/>
          <p:nvPr/>
        </p:nvSpPr>
        <p:spPr>
          <a:xfrm>
            <a:off x="841248" y="3520440"/>
            <a:ext cx="822960" cy="54864"/>
          </a:xfrm>
          <a:prstGeom prst="rect">
            <a:avLst/>
          </a:prstGeom>
          <a:solidFill>
            <a:srgbClr val="00662C"/>
          </a:solidFill>
          <a:ln/>
        </p:spPr>
      </p:sp>
      <p:sp>
        <p:nvSpPr>
          <p:cNvPr id="6" name="Text 3"/>
          <p:cNvSpPr/>
          <p:nvPr/>
        </p:nvSpPr>
        <p:spPr>
          <a:xfrm>
            <a:off x="822960" y="3657600"/>
            <a:ext cx="9601200" cy="457200"/>
          </a:xfrm>
          <a:prstGeom prst="rect">
            <a:avLst/>
          </a:prstGeom>
          <a:noFill/>
          <a:ln/>
        </p:spPr>
        <p:txBody>
          <a:bodyPr wrap="square" lIns="0" tIns="0" rIns="0" bIns="0" rtlCol="0" anchor="ctr"/>
          <a:lstStyle/>
          <a:p>
            <a:pPr marL="0" indent="0" algn="l">
              <a:buNone/>
            </a:pPr>
            <a:r>
              <a:rPr lang="en-US" sz="1900" b="1" dirty="0">
                <a:solidFill>
                  <a:srgbClr val="00662C"/>
                </a:solidFill>
                <a:latin typeface="Roboto" pitchFamily="34" charset="0"/>
                <a:ea typeface="Roboto" pitchFamily="34" charset="-122"/>
                <a:cs typeface="Roboto" pitchFamily="34" charset="-120"/>
              </a:rPr>
              <a:t>Problem Scope and Primer for Federating Mantid</a:t>
            </a:r>
            <a:endParaRPr lang="en-US" sz="1900" dirty="0"/>
          </a:p>
        </p:txBody>
      </p:sp>
      <p:sp>
        <p:nvSpPr>
          <p:cNvPr id="7" name="Text 4"/>
          <p:cNvSpPr/>
          <p:nvPr/>
        </p:nvSpPr>
        <p:spPr>
          <a:xfrm>
            <a:off x="822960" y="4251960"/>
            <a:ext cx="7315200" cy="320040"/>
          </a:xfrm>
          <a:prstGeom prst="rect">
            <a:avLst/>
          </a:prstGeom>
          <a:noFill/>
          <a:ln/>
        </p:spPr>
        <p:txBody>
          <a:bodyPr wrap="square" lIns="0" tIns="0" rIns="0" bIns="0" rtlCol="0" anchor="ctr"/>
          <a:lstStyle/>
          <a:p>
            <a:pPr marL="0" indent="0" algn="l">
              <a:buNone/>
            </a:pPr>
            <a:r>
              <a:rPr lang="en-US" sz="1600" dirty="0">
                <a:solidFill>
                  <a:srgbClr val="373A36"/>
                </a:solidFill>
                <a:latin typeface="Roboto" pitchFamily="34" charset="0"/>
                <a:ea typeface="Roboto" pitchFamily="34" charset="-122"/>
                <a:cs typeface="Roboto" pitchFamily="34" charset="-120"/>
              </a:rPr>
              <a:t>Michael Walsh, ORNL</a:t>
            </a:r>
            <a:endParaRPr lang="en-US" sz="1600" dirty="0"/>
          </a:p>
        </p:txBody>
      </p:sp>
      <p:sp>
        <p:nvSpPr>
          <p:cNvPr id="8" name="Text 5"/>
          <p:cNvSpPr/>
          <p:nvPr/>
        </p:nvSpPr>
        <p:spPr>
          <a:xfrm>
            <a:off x="822960" y="4553712"/>
            <a:ext cx="7315200" cy="320040"/>
          </a:xfrm>
          <a:prstGeom prst="rect">
            <a:avLst/>
          </a:prstGeom>
          <a:noFill/>
          <a:ln/>
        </p:spPr>
        <p:txBody>
          <a:bodyPr wrap="square" lIns="0" tIns="0" rIns="0" bIns="0" rtlCol="0" anchor="ctr"/>
          <a:lstStyle/>
          <a:p>
            <a:pPr marL="0" indent="0" algn="l">
              <a:buNone/>
            </a:pPr>
            <a:r>
              <a:rPr lang="en-US" sz="1400" dirty="0">
                <a:solidFill>
                  <a:srgbClr val="373A36"/>
                </a:solidFill>
                <a:latin typeface="Roboto" pitchFamily="34" charset="0"/>
                <a:ea typeface="Roboto" pitchFamily="34" charset="-122"/>
                <a:cs typeface="Roboto" pitchFamily="34" charset="-120"/>
              </a:rPr>
              <a:t>September 21, 2026</a:t>
            </a:r>
            <a:endParaRPr lang="en-US" sz="1400" dirty="0"/>
          </a:p>
        </p:txBody>
      </p:sp>
      <p:pic>
        <p:nvPicPr>
          <p:cNvPr id="9" name="Image 1" descr="/home/claude/talk/assets/doe_logo.png"/>
          <p:cNvPicPr>
            <a:picLocks noChangeAspect="1"/>
          </p:cNvPicPr>
          <p:nvPr/>
        </p:nvPicPr>
        <p:blipFill>
          <a:blip r:embed="rId4"/>
          <a:stretch>
            <a:fillRect/>
          </a:stretch>
        </p:blipFill>
        <p:spPr>
          <a:xfrm>
            <a:off x="822960" y="5806440"/>
            <a:ext cx="1371600" cy="393635"/>
          </a:xfrm>
          <a:prstGeom prst="rect">
            <a:avLst/>
          </a:prstGeom>
        </p:spPr>
      </p:pic>
      <p:sp>
        <p:nvSpPr>
          <p:cNvPr id="10" name="Text 6"/>
          <p:cNvSpPr/>
          <p:nvPr/>
        </p:nvSpPr>
        <p:spPr>
          <a:xfrm>
            <a:off x="2331720" y="5989320"/>
            <a:ext cx="3657600" cy="548640"/>
          </a:xfrm>
          <a:prstGeom prst="rect">
            <a:avLst/>
          </a:prstGeom>
          <a:noFill/>
          <a:ln/>
        </p:spPr>
        <p:txBody>
          <a:bodyPr wrap="square" lIns="0" tIns="0" rIns="0" bIns="0" rtlCol="0" anchor="ctr"/>
          <a:lstStyle/>
          <a:p>
            <a:pPr marL="0" indent="0" algn="l">
              <a:buNone/>
            </a:pPr>
            <a:r>
              <a:rPr lang="en-US" sz="850" dirty="0">
                <a:solidFill>
                  <a:srgbClr val="373A36"/>
                </a:solidFill>
                <a:latin typeface="Roboto" pitchFamily="34" charset="0"/>
                <a:ea typeface="Roboto" pitchFamily="34" charset="-122"/>
                <a:cs typeface="Roboto" pitchFamily="34" charset="-120"/>
              </a:rPr>
              <a:t>ORNL IS MANAGED BY UT-BATTELLE LLC</a:t>
            </a:r>
            <a:endParaRPr lang="en-US" sz="850" dirty="0"/>
          </a:p>
          <a:p>
            <a:pPr marL="0" indent="0" algn="l">
              <a:buNone/>
            </a:pPr>
            <a:r>
              <a:rPr lang="en-US" sz="850" dirty="0">
                <a:solidFill>
                  <a:srgbClr val="373A36"/>
                </a:solidFill>
                <a:latin typeface="Roboto" pitchFamily="34" charset="0"/>
                <a:ea typeface="Roboto" pitchFamily="34" charset="-122"/>
                <a:cs typeface="Roboto" pitchFamily="34" charset="-120"/>
              </a:rPr>
              <a:t>FOR THE US DEPARTMENT OF ENERGY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454D"/>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lgn="l">
              <a:buNone/>
            </a:pPr>
            <a:r>
              <a:rPr lang="en-US" sz="3200" b="1" dirty="0">
                <a:solidFill>
                  <a:srgbClr val="FFFFFF"/>
                </a:solidFill>
                <a:latin typeface="Roboto Black" pitchFamily="34" charset="0"/>
                <a:ea typeface="Roboto Black" pitchFamily="34" charset="-122"/>
                <a:cs typeface="Roboto Black" pitchFamily="34" charset="-120"/>
              </a:rPr>
              <a:t>Problem Scope</a:t>
            </a:r>
            <a:endParaRPr lang="en-US" sz="3200" dirty="0"/>
          </a:p>
        </p:txBody>
      </p:sp>
      <p:sp>
        <p:nvSpPr>
          <p:cNvPr id="3" name="Shape 1"/>
          <p:cNvSpPr/>
          <p:nvPr/>
        </p:nvSpPr>
        <p:spPr>
          <a:xfrm>
            <a:off x="1097280" y="1600200"/>
            <a:ext cx="822960" cy="73152"/>
          </a:xfrm>
          <a:prstGeom prst="rect">
            <a:avLst/>
          </a:prstGeom>
          <a:solidFill>
            <a:srgbClr val="00662C"/>
          </a:solidFill>
          <a:ln/>
        </p:spPr>
      </p:sp>
      <p:sp>
        <p:nvSpPr>
          <p:cNvPr id="4" name="Text 2"/>
          <p:cNvSpPr/>
          <p:nvPr/>
        </p:nvSpPr>
        <p:spPr>
          <a:xfrm>
            <a:off x="1097280" y="1874520"/>
            <a:ext cx="10149840" cy="594360"/>
          </a:xfrm>
          <a:prstGeom prst="rect">
            <a:avLst/>
          </a:prstGeom>
          <a:noFill/>
          <a:ln/>
        </p:spPr>
        <p:txBody>
          <a:bodyPr wrap="square" lIns="0" tIns="0" rIns="0" bIns="0" rtlCol="0" anchor="ctr"/>
          <a:lstStyle/>
          <a:p>
            <a:pPr marL="0" indent="0" algn="l">
              <a:buNone/>
            </a:pPr>
            <a:r>
              <a:rPr lang="en-US" sz="2800" b="1" dirty="0">
                <a:solidFill>
                  <a:srgbClr val="FF9E1B"/>
                </a:solidFill>
                <a:latin typeface="Roboto Black" pitchFamily="34" charset="0"/>
                <a:ea typeface="Roboto Black" pitchFamily="34" charset="-122"/>
                <a:cs typeface="Roboto Black" pitchFamily="34" charset="-120"/>
              </a:rPr>
              <a:t>Keep</a:t>
            </a:r>
            <a:r>
              <a:rPr lang="en-US" sz="2800" b="1" dirty="0">
                <a:solidFill>
                  <a:srgbClr val="FFFFFF"/>
                </a:solidFill>
                <a:latin typeface="Roboto Black" pitchFamily="34" charset="0"/>
                <a:ea typeface="Roboto Black" pitchFamily="34" charset="-122"/>
                <a:cs typeface="Roboto Black" pitchFamily="34" charset="-120"/>
              </a:rPr>
              <a:t> what works.</a:t>
            </a:r>
            <a:endParaRPr lang="en-US" sz="2800" dirty="0"/>
          </a:p>
        </p:txBody>
      </p:sp>
      <p:sp>
        <p:nvSpPr>
          <p:cNvPr id="5" name="Text 3"/>
          <p:cNvSpPr/>
          <p:nvPr/>
        </p:nvSpPr>
        <p:spPr>
          <a:xfrm>
            <a:off x="1097280" y="2560320"/>
            <a:ext cx="10149840" cy="594360"/>
          </a:xfrm>
          <a:prstGeom prst="rect">
            <a:avLst/>
          </a:prstGeom>
          <a:noFill/>
          <a:ln/>
        </p:spPr>
        <p:txBody>
          <a:bodyPr wrap="square" lIns="0" tIns="0" rIns="0" bIns="0" rtlCol="0" anchor="ctr"/>
          <a:lstStyle/>
          <a:p>
            <a:pPr marL="0" indent="0" algn="l">
              <a:buNone/>
            </a:pPr>
            <a:r>
              <a:rPr lang="en-US" sz="2800" b="1" dirty="0">
                <a:solidFill>
                  <a:srgbClr val="FF9E1B"/>
                </a:solidFill>
                <a:latin typeface="Roboto Black" pitchFamily="34" charset="0"/>
                <a:ea typeface="Roboto Black" pitchFamily="34" charset="-122"/>
                <a:cs typeface="Roboto Black" pitchFamily="34" charset="-120"/>
              </a:rPr>
              <a:t>Fix</a:t>
            </a:r>
            <a:r>
              <a:rPr lang="en-US" sz="2800" b="1" dirty="0">
                <a:solidFill>
                  <a:srgbClr val="FFFFFF"/>
                </a:solidFill>
                <a:latin typeface="Roboto Black" pitchFamily="34" charset="0"/>
                <a:ea typeface="Roboto Black" pitchFamily="34" charset="-122"/>
                <a:cs typeface="Roboto Black" pitchFamily="34" charset="-120"/>
              </a:rPr>
              <a:t> what's failed.</a:t>
            </a:r>
            <a:endParaRPr lang="en-US" sz="2800" dirty="0"/>
          </a:p>
        </p:txBody>
      </p:sp>
      <p:sp>
        <p:nvSpPr>
          <p:cNvPr id="6" name="Text 4"/>
          <p:cNvSpPr/>
          <p:nvPr/>
        </p:nvSpPr>
        <p:spPr>
          <a:xfrm>
            <a:off x="1097280" y="3246120"/>
            <a:ext cx="10149840" cy="594360"/>
          </a:xfrm>
          <a:prstGeom prst="rect">
            <a:avLst/>
          </a:prstGeom>
          <a:noFill/>
          <a:ln/>
        </p:spPr>
        <p:txBody>
          <a:bodyPr wrap="square" lIns="0" tIns="0" rIns="0" bIns="0" rtlCol="0" anchor="ctr"/>
          <a:lstStyle/>
          <a:p>
            <a:pPr marL="0" indent="0" algn="l">
              <a:buNone/>
            </a:pPr>
            <a:r>
              <a:rPr lang="en-US" sz="2800" b="1" dirty="0">
                <a:solidFill>
                  <a:srgbClr val="FF9E1B"/>
                </a:solidFill>
                <a:latin typeface="Roboto Black" pitchFamily="34" charset="0"/>
                <a:ea typeface="Roboto Black" pitchFamily="34" charset="-122"/>
                <a:cs typeface="Roboto Black" pitchFamily="34" charset="-120"/>
              </a:rPr>
              <a:t>Meet</a:t>
            </a:r>
            <a:r>
              <a:rPr lang="en-US" sz="2800" b="1" dirty="0">
                <a:solidFill>
                  <a:srgbClr val="FFFFFF"/>
                </a:solidFill>
                <a:latin typeface="Roboto Black" pitchFamily="34" charset="0"/>
                <a:ea typeface="Roboto Black" pitchFamily="34" charset="-122"/>
                <a:cs typeface="Roboto Black" pitchFamily="34" charset="-120"/>
              </a:rPr>
              <a:t> what users need.</a:t>
            </a:r>
            <a:endParaRPr lang="en-US" sz="2800" dirty="0"/>
          </a:p>
        </p:txBody>
      </p:sp>
      <p:sp>
        <p:nvSpPr>
          <p:cNvPr id="7" name="Text 5"/>
          <p:cNvSpPr/>
          <p:nvPr/>
        </p:nvSpPr>
        <p:spPr>
          <a:xfrm>
            <a:off x="1097280" y="3931920"/>
            <a:ext cx="10149840" cy="594360"/>
          </a:xfrm>
          <a:prstGeom prst="rect">
            <a:avLst/>
          </a:prstGeom>
          <a:noFill/>
          <a:ln/>
        </p:spPr>
        <p:txBody>
          <a:bodyPr wrap="square" lIns="0" tIns="0" rIns="0" bIns="0" rtlCol="0" anchor="ctr"/>
          <a:lstStyle/>
          <a:p>
            <a:pPr marL="0" indent="0" algn="l">
              <a:buNone/>
            </a:pPr>
            <a:r>
              <a:rPr lang="en-US" sz="2800" b="1" dirty="0">
                <a:solidFill>
                  <a:srgbClr val="FFFFFF"/>
                </a:solidFill>
                <a:latin typeface="Roboto Black" pitchFamily="34" charset="0"/>
                <a:ea typeface="Roboto Black" pitchFamily="34" charset="-122"/>
                <a:cs typeface="Roboto Black" pitchFamily="34" charset="-120"/>
              </a:rPr>
              <a:t>Leave room to</a:t>
            </a:r>
            <a:r>
              <a:rPr lang="en-US" sz="2800" b="1" dirty="0">
                <a:solidFill>
                  <a:srgbClr val="FF9E1B"/>
                </a:solidFill>
                <a:latin typeface="Roboto Black" pitchFamily="34" charset="0"/>
                <a:ea typeface="Roboto Black" pitchFamily="34" charset="-122"/>
                <a:cs typeface="Roboto Black" pitchFamily="34" charset="-120"/>
              </a:rPr>
              <a:t> grow.</a:t>
            </a:r>
            <a:endParaRPr lang="en-US" sz="2800" dirty="0"/>
          </a:p>
        </p:txBody>
      </p:sp>
      <p:pic>
        <p:nvPicPr>
          <p:cNvPr id="8" name="Image 0" descr="/home/claude/talk/assets/ornl_logo_white.png"/>
          <p:cNvPicPr>
            <a:picLocks noChangeAspect="1"/>
          </p:cNvPicPr>
          <p:nvPr/>
        </p:nvPicPr>
        <p:blipFill>
          <a:blip r:embed="rId3"/>
          <a:stretch>
            <a:fillRect/>
          </a:stretch>
        </p:blipFill>
        <p:spPr>
          <a:xfrm>
            <a:off x="457200" y="6473952"/>
            <a:ext cx="1188720" cy="285768"/>
          </a:xfrm>
          <a:prstGeom prst="rect">
            <a:avLst/>
          </a:prstGeom>
        </p:spPr>
      </p:pic>
      <p:sp>
        <p:nvSpPr>
          <p:cNvPr id="9" name="Text 6"/>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C8DCCC"/>
                </a:solidFill>
                <a:latin typeface="Roboto" pitchFamily="34" charset="0"/>
                <a:ea typeface="Roboto" pitchFamily="34" charset="-122"/>
                <a:cs typeface="Robot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1051560"/>
          </a:xfrm>
          <a:prstGeom prst="rect">
            <a:avLst/>
          </a:prstGeom>
          <a:noFill/>
          <a:ln/>
        </p:spPr>
        <p:txBody>
          <a:bodyPr wrap="square" lIns="0" tIns="0" rIns="0" bIns="0" rtlCol="0" anchor="ctr"/>
          <a:lstStyle/>
          <a:p>
            <a:pPr marL="0" indent="0" algn="l">
              <a:buNone/>
            </a:pPr>
            <a:r>
              <a:rPr lang="en-US" sz="3200" b="1" dirty="0">
                <a:solidFill>
                  <a:srgbClr val="373A36"/>
                </a:solidFill>
                <a:latin typeface="Roboto Black" pitchFamily="34" charset="0"/>
                <a:ea typeface="Roboto Black" pitchFamily="34" charset="-122"/>
                <a:cs typeface="Roboto Black" pitchFamily="34" charset="-120"/>
              </a:rPr>
              <a:t>Five things must stay true no matter how Mantid is rebuilt</a:t>
            </a:r>
            <a:endParaRPr lang="en-US" sz="3200" dirty="0"/>
          </a:p>
        </p:txBody>
      </p:sp>
      <p:sp>
        <p:nvSpPr>
          <p:cNvPr id="3" name="Text 1"/>
          <p:cNvSpPr/>
          <p:nvPr/>
        </p:nvSpPr>
        <p:spPr>
          <a:xfrm>
            <a:off x="640080" y="1463040"/>
            <a:ext cx="10881360" cy="320040"/>
          </a:xfrm>
          <a:prstGeom prst="rect">
            <a:avLst/>
          </a:prstGeom>
          <a:noFill/>
          <a:ln/>
        </p:spPr>
        <p:txBody>
          <a:bodyPr wrap="square" lIns="0" tIns="0" rIns="0" bIns="0" rtlCol="0" anchor="ctr"/>
          <a:lstStyle/>
          <a:p>
            <a:pPr marL="0" indent="0" algn="l">
              <a:buNone/>
            </a:pPr>
            <a:r>
              <a:rPr lang="en-US" sz="1400" i="1" dirty="0">
                <a:solidFill>
                  <a:srgbClr val="373A36"/>
                </a:solidFill>
                <a:latin typeface="Roboto" pitchFamily="34" charset="0"/>
                <a:ea typeface="Roboto" pitchFamily="34" charset="-122"/>
                <a:cs typeface="Roboto" pitchFamily="34" charset="-120"/>
              </a:rPr>
              <a:t>The map for the rest of this talk.</a:t>
            </a:r>
            <a:endParaRPr lang="en-US" sz="1400" dirty="0"/>
          </a:p>
        </p:txBody>
      </p:sp>
      <p:sp>
        <p:nvSpPr>
          <p:cNvPr id="4" name="Shape 2"/>
          <p:cNvSpPr/>
          <p:nvPr/>
        </p:nvSpPr>
        <p:spPr>
          <a:xfrm>
            <a:off x="640080" y="1874520"/>
            <a:ext cx="3502152" cy="1965960"/>
          </a:xfrm>
          <a:prstGeom prst="rect">
            <a:avLst/>
          </a:prstGeom>
          <a:solidFill>
            <a:srgbClr val="FFFFFF"/>
          </a:solidFill>
          <a:ln w="12700">
            <a:solidFill>
              <a:srgbClr val="DBDCDB"/>
            </a:solidFill>
            <a:prstDash val="solid"/>
          </a:ln>
        </p:spPr>
      </p:sp>
      <p:sp>
        <p:nvSpPr>
          <p:cNvPr id="5" name="Shape 3"/>
          <p:cNvSpPr/>
          <p:nvPr/>
        </p:nvSpPr>
        <p:spPr>
          <a:xfrm>
            <a:off x="868680" y="2103120"/>
            <a:ext cx="502920" cy="502920"/>
          </a:xfrm>
          <a:prstGeom prst="ellipse">
            <a:avLst/>
          </a:prstGeom>
          <a:solidFill>
            <a:srgbClr val="00662C"/>
          </a:solidFill>
          <a:ln/>
        </p:spPr>
      </p:sp>
      <p:sp>
        <p:nvSpPr>
          <p:cNvPr id="6" name="Text 4"/>
          <p:cNvSpPr/>
          <p:nvPr/>
        </p:nvSpPr>
        <p:spPr>
          <a:xfrm>
            <a:off x="868680"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Roboto Black" pitchFamily="34" charset="0"/>
                <a:ea typeface="Roboto Black" pitchFamily="34" charset="-122"/>
                <a:cs typeface="Roboto Black" pitchFamily="34" charset="-120"/>
              </a:rPr>
              <a:t>1</a:t>
            </a:r>
            <a:endParaRPr lang="en-US" sz="1800" dirty="0"/>
          </a:p>
        </p:txBody>
      </p:sp>
      <p:sp>
        <p:nvSpPr>
          <p:cNvPr id="7" name="Text 5"/>
          <p:cNvSpPr/>
          <p:nvPr/>
        </p:nvSpPr>
        <p:spPr>
          <a:xfrm>
            <a:off x="1508760" y="2075688"/>
            <a:ext cx="2450592" cy="640080"/>
          </a:xfrm>
          <a:prstGeom prst="rect">
            <a:avLst/>
          </a:prstGeom>
          <a:noFill/>
          <a:ln/>
        </p:spPr>
        <p:txBody>
          <a:bodyPr wrap="square" lIns="0" tIns="0" rIns="0" bIns="0" rtlCol="0" anchor="t"/>
          <a:lstStyle/>
          <a:p>
            <a:pPr marL="0" indent="0" algn="l">
              <a:buNone/>
            </a:pPr>
            <a:r>
              <a:rPr lang="en-US" sz="1400" b="1" dirty="0">
                <a:solidFill>
                  <a:srgbClr val="373A36"/>
                </a:solidFill>
                <a:latin typeface="Roboto" pitchFamily="34" charset="0"/>
                <a:ea typeface="Roboto" pitchFamily="34" charset="-122"/>
                <a:cs typeface="Roboto" pitchFamily="34" charset="-120"/>
              </a:rPr>
              <a:t>Run the science well</a:t>
            </a:r>
            <a:endParaRPr lang="en-US" sz="1400" dirty="0"/>
          </a:p>
        </p:txBody>
      </p:sp>
      <p:sp>
        <p:nvSpPr>
          <p:cNvPr id="8" name="Text 6"/>
          <p:cNvSpPr/>
          <p:nvPr/>
        </p:nvSpPr>
        <p:spPr>
          <a:xfrm>
            <a:off x="868680" y="2788920"/>
            <a:ext cx="3044952" cy="914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Feature complete, and fast enough for real data rates.</a:t>
            </a:r>
            <a:endParaRPr lang="en-US" sz="1200" dirty="0"/>
          </a:p>
        </p:txBody>
      </p:sp>
      <p:sp>
        <p:nvSpPr>
          <p:cNvPr id="9" name="Shape 7"/>
          <p:cNvSpPr/>
          <p:nvPr/>
        </p:nvSpPr>
        <p:spPr>
          <a:xfrm>
            <a:off x="4325112" y="1874520"/>
            <a:ext cx="3502152" cy="1965960"/>
          </a:xfrm>
          <a:prstGeom prst="rect">
            <a:avLst/>
          </a:prstGeom>
          <a:solidFill>
            <a:srgbClr val="FFFFFF"/>
          </a:solidFill>
          <a:ln w="12700">
            <a:solidFill>
              <a:srgbClr val="DBDCDB"/>
            </a:solidFill>
            <a:prstDash val="solid"/>
          </a:ln>
        </p:spPr>
      </p:sp>
      <p:sp>
        <p:nvSpPr>
          <p:cNvPr id="10" name="Shape 8"/>
          <p:cNvSpPr/>
          <p:nvPr/>
        </p:nvSpPr>
        <p:spPr>
          <a:xfrm>
            <a:off x="4553712" y="2103120"/>
            <a:ext cx="502920" cy="502920"/>
          </a:xfrm>
          <a:prstGeom prst="ellipse">
            <a:avLst/>
          </a:prstGeom>
          <a:solidFill>
            <a:srgbClr val="00662C"/>
          </a:solidFill>
          <a:ln/>
        </p:spPr>
      </p:sp>
      <p:sp>
        <p:nvSpPr>
          <p:cNvPr id="11" name="Text 9"/>
          <p:cNvSpPr/>
          <p:nvPr/>
        </p:nvSpPr>
        <p:spPr>
          <a:xfrm>
            <a:off x="4553712"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Roboto Black" pitchFamily="34" charset="0"/>
                <a:ea typeface="Roboto Black" pitchFamily="34" charset="-122"/>
                <a:cs typeface="Roboto Black" pitchFamily="34" charset="-120"/>
              </a:rPr>
              <a:t>2</a:t>
            </a:r>
            <a:endParaRPr lang="en-US" sz="1800" dirty="0"/>
          </a:p>
        </p:txBody>
      </p:sp>
      <p:sp>
        <p:nvSpPr>
          <p:cNvPr id="12" name="Text 10"/>
          <p:cNvSpPr/>
          <p:nvPr/>
        </p:nvSpPr>
        <p:spPr>
          <a:xfrm>
            <a:off x="5193792" y="2075688"/>
            <a:ext cx="2450592" cy="640080"/>
          </a:xfrm>
          <a:prstGeom prst="rect">
            <a:avLst/>
          </a:prstGeom>
          <a:noFill/>
          <a:ln/>
        </p:spPr>
        <p:txBody>
          <a:bodyPr wrap="square" lIns="0" tIns="0" rIns="0" bIns="0" rtlCol="0" anchor="t"/>
          <a:lstStyle/>
          <a:p>
            <a:pPr marL="0" indent="0" algn="l">
              <a:buNone/>
            </a:pPr>
            <a:r>
              <a:rPr lang="en-US" sz="1400" b="1" dirty="0">
                <a:solidFill>
                  <a:srgbClr val="373A36"/>
                </a:solidFill>
                <a:latin typeface="Roboto" pitchFamily="34" charset="0"/>
                <a:ea typeface="Roboto" pitchFamily="34" charset="-122"/>
                <a:cs typeface="Roboto" pitchFamily="34" charset="-120"/>
              </a:rPr>
              <a:t>Stay decoupled for what's next</a:t>
            </a:r>
            <a:endParaRPr lang="en-US" sz="1400" dirty="0"/>
          </a:p>
        </p:txBody>
      </p:sp>
      <p:sp>
        <p:nvSpPr>
          <p:cNvPr id="13" name="Text 11"/>
          <p:cNvSpPr/>
          <p:nvPr/>
        </p:nvSpPr>
        <p:spPr>
          <a:xfrm>
            <a:off x="4553712" y="2788920"/>
            <a:ext cx="3044952" cy="914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New requirements, new instruments, new experiments. Language support and facility flexibility both follow from this.</a:t>
            </a:r>
            <a:endParaRPr lang="en-US" sz="1200" dirty="0"/>
          </a:p>
        </p:txBody>
      </p:sp>
      <p:sp>
        <p:nvSpPr>
          <p:cNvPr id="14" name="Shape 12"/>
          <p:cNvSpPr/>
          <p:nvPr/>
        </p:nvSpPr>
        <p:spPr>
          <a:xfrm>
            <a:off x="8010144" y="1874520"/>
            <a:ext cx="3502152" cy="1965960"/>
          </a:xfrm>
          <a:prstGeom prst="rect">
            <a:avLst/>
          </a:prstGeom>
          <a:solidFill>
            <a:srgbClr val="FFFFFF"/>
          </a:solidFill>
          <a:ln w="12700">
            <a:solidFill>
              <a:srgbClr val="DBDCDB"/>
            </a:solidFill>
            <a:prstDash val="solid"/>
          </a:ln>
        </p:spPr>
      </p:sp>
      <p:sp>
        <p:nvSpPr>
          <p:cNvPr id="15" name="Shape 13"/>
          <p:cNvSpPr/>
          <p:nvPr/>
        </p:nvSpPr>
        <p:spPr>
          <a:xfrm>
            <a:off x="8238744" y="2103120"/>
            <a:ext cx="502920" cy="502920"/>
          </a:xfrm>
          <a:prstGeom prst="ellipse">
            <a:avLst/>
          </a:prstGeom>
          <a:solidFill>
            <a:srgbClr val="00662C"/>
          </a:solidFill>
          <a:ln/>
        </p:spPr>
      </p:sp>
      <p:sp>
        <p:nvSpPr>
          <p:cNvPr id="16" name="Text 14"/>
          <p:cNvSpPr/>
          <p:nvPr/>
        </p:nvSpPr>
        <p:spPr>
          <a:xfrm>
            <a:off x="8238744"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Roboto Black" pitchFamily="34" charset="0"/>
                <a:ea typeface="Roboto Black" pitchFamily="34" charset="-122"/>
                <a:cs typeface="Roboto Black" pitchFamily="34" charset="-120"/>
              </a:rPr>
              <a:t>3</a:t>
            </a:r>
            <a:endParaRPr lang="en-US" sz="1800" dirty="0"/>
          </a:p>
        </p:txBody>
      </p:sp>
      <p:sp>
        <p:nvSpPr>
          <p:cNvPr id="17" name="Text 15"/>
          <p:cNvSpPr/>
          <p:nvPr/>
        </p:nvSpPr>
        <p:spPr>
          <a:xfrm>
            <a:off x="8878824" y="2075688"/>
            <a:ext cx="2450592" cy="640080"/>
          </a:xfrm>
          <a:prstGeom prst="rect">
            <a:avLst/>
          </a:prstGeom>
          <a:noFill/>
          <a:ln/>
        </p:spPr>
        <p:txBody>
          <a:bodyPr wrap="square" lIns="0" tIns="0" rIns="0" bIns="0" rtlCol="0" anchor="t"/>
          <a:lstStyle/>
          <a:p>
            <a:pPr marL="0" indent="0" algn="l">
              <a:buNone/>
            </a:pPr>
            <a:r>
              <a:rPr lang="en-US" sz="1400" b="1" dirty="0">
                <a:solidFill>
                  <a:srgbClr val="373A36"/>
                </a:solidFill>
                <a:latin typeface="Roboto" pitchFamily="34" charset="0"/>
                <a:ea typeface="Roboto" pitchFamily="34" charset="-122"/>
                <a:cs typeface="Roboto" pitchFamily="34" charset="-120"/>
              </a:rPr>
              <a:t>Keep results trustworthy</a:t>
            </a:r>
            <a:endParaRPr lang="en-US" sz="1400" dirty="0"/>
          </a:p>
        </p:txBody>
      </p:sp>
      <p:sp>
        <p:nvSpPr>
          <p:cNvPr id="18" name="Text 16"/>
          <p:cNvSpPr/>
          <p:nvPr/>
        </p:nvSpPr>
        <p:spPr>
          <a:xfrm>
            <a:off x="8238744" y="2788920"/>
            <a:ext cx="3044952" cy="914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Provenance captured by default, part of the job itself, shaped to fit how each site works, never left out.</a:t>
            </a:r>
            <a:endParaRPr lang="en-US" sz="1200" dirty="0"/>
          </a:p>
        </p:txBody>
      </p:sp>
      <p:sp>
        <p:nvSpPr>
          <p:cNvPr id="19" name="Shape 17"/>
          <p:cNvSpPr/>
          <p:nvPr/>
        </p:nvSpPr>
        <p:spPr>
          <a:xfrm>
            <a:off x="2482596" y="3977640"/>
            <a:ext cx="3502152" cy="1965960"/>
          </a:xfrm>
          <a:prstGeom prst="rect">
            <a:avLst/>
          </a:prstGeom>
          <a:solidFill>
            <a:srgbClr val="FFFFFF"/>
          </a:solidFill>
          <a:ln w="12700">
            <a:solidFill>
              <a:srgbClr val="DBDCDB"/>
            </a:solidFill>
            <a:prstDash val="solid"/>
          </a:ln>
        </p:spPr>
      </p:sp>
      <p:sp>
        <p:nvSpPr>
          <p:cNvPr id="20" name="Shape 18"/>
          <p:cNvSpPr/>
          <p:nvPr/>
        </p:nvSpPr>
        <p:spPr>
          <a:xfrm>
            <a:off x="2711196" y="4206240"/>
            <a:ext cx="502920" cy="502920"/>
          </a:xfrm>
          <a:prstGeom prst="ellipse">
            <a:avLst/>
          </a:prstGeom>
          <a:solidFill>
            <a:srgbClr val="00662C"/>
          </a:solidFill>
          <a:ln/>
        </p:spPr>
      </p:sp>
      <p:sp>
        <p:nvSpPr>
          <p:cNvPr id="21" name="Text 19"/>
          <p:cNvSpPr/>
          <p:nvPr/>
        </p:nvSpPr>
        <p:spPr>
          <a:xfrm>
            <a:off x="2711196" y="4206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Roboto Black" pitchFamily="34" charset="0"/>
                <a:ea typeface="Roboto Black" pitchFamily="34" charset="-122"/>
                <a:cs typeface="Roboto Black" pitchFamily="34" charset="-120"/>
              </a:rPr>
              <a:t>4</a:t>
            </a:r>
            <a:endParaRPr lang="en-US" sz="1800" dirty="0"/>
          </a:p>
        </p:txBody>
      </p:sp>
      <p:sp>
        <p:nvSpPr>
          <p:cNvPr id="22" name="Text 20"/>
          <p:cNvSpPr/>
          <p:nvPr/>
        </p:nvSpPr>
        <p:spPr>
          <a:xfrm>
            <a:off x="3351276" y="4178808"/>
            <a:ext cx="2450592" cy="640080"/>
          </a:xfrm>
          <a:prstGeom prst="rect">
            <a:avLst/>
          </a:prstGeom>
          <a:noFill/>
          <a:ln/>
        </p:spPr>
        <p:txBody>
          <a:bodyPr wrap="square" lIns="0" tIns="0" rIns="0" bIns="0" rtlCol="0" anchor="t"/>
          <a:lstStyle/>
          <a:p>
            <a:pPr marL="0" indent="0" algn="l">
              <a:buNone/>
            </a:pPr>
            <a:r>
              <a:rPr lang="en-US" sz="1400" b="1" dirty="0">
                <a:solidFill>
                  <a:srgbClr val="373A36"/>
                </a:solidFill>
                <a:latin typeface="Roboto" pitchFamily="34" charset="0"/>
                <a:ea typeface="Roboto" pitchFamily="34" charset="-122"/>
                <a:cs typeface="Roboto" pitchFamily="34" charset="-120"/>
              </a:rPr>
              <a:t>Build on each other's work</a:t>
            </a:r>
            <a:endParaRPr lang="en-US" sz="1400" dirty="0"/>
          </a:p>
        </p:txBody>
      </p:sp>
      <p:sp>
        <p:nvSpPr>
          <p:cNvPr id="23" name="Text 21"/>
          <p:cNvSpPr/>
          <p:nvPr/>
        </p:nvSpPr>
        <p:spPr>
          <a:xfrm>
            <a:off x="2711196" y="4892040"/>
            <a:ext cx="3044952" cy="914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So nobody solves the same problem twice.</a:t>
            </a:r>
            <a:endParaRPr lang="en-US" sz="1200" dirty="0"/>
          </a:p>
        </p:txBody>
      </p:sp>
      <p:sp>
        <p:nvSpPr>
          <p:cNvPr id="24" name="Shape 22"/>
          <p:cNvSpPr/>
          <p:nvPr/>
        </p:nvSpPr>
        <p:spPr>
          <a:xfrm>
            <a:off x="6167628" y="3977640"/>
            <a:ext cx="3502152" cy="1965960"/>
          </a:xfrm>
          <a:prstGeom prst="rect">
            <a:avLst/>
          </a:prstGeom>
          <a:solidFill>
            <a:srgbClr val="FFFFFF"/>
          </a:solidFill>
          <a:ln w="12700">
            <a:solidFill>
              <a:srgbClr val="DBDCDB"/>
            </a:solidFill>
            <a:prstDash val="solid"/>
          </a:ln>
        </p:spPr>
      </p:sp>
      <p:sp>
        <p:nvSpPr>
          <p:cNvPr id="25" name="Shape 23"/>
          <p:cNvSpPr/>
          <p:nvPr/>
        </p:nvSpPr>
        <p:spPr>
          <a:xfrm>
            <a:off x="6396228" y="4206240"/>
            <a:ext cx="502920" cy="502920"/>
          </a:xfrm>
          <a:prstGeom prst="ellipse">
            <a:avLst/>
          </a:prstGeom>
          <a:solidFill>
            <a:srgbClr val="00662C"/>
          </a:solidFill>
          <a:ln/>
        </p:spPr>
      </p:sp>
      <p:sp>
        <p:nvSpPr>
          <p:cNvPr id="26" name="Text 24"/>
          <p:cNvSpPr/>
          <p:nvPr/>
        </p:nvSpPr>
        <p:spPr>
          <a:xfrm>
            <a:off x="6396228" y="4206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Roboto Black" pitchFamily="34" charset="0"/>
                <a:ea typeface="Roboto Black" pitchFamily="34" charset="-122"/>
                <a:cs typeface="Roboto Black" pitchFamily="34" charset="-120"/>
              </a:rPr>
              <a:t>5</a:t>
            </a:r>
            <a:endParaRPr lang="en-US" sz="1800" dirty="0"/>
          </a:p>
        </p:txBody>
      </p:sp>
      <p:sp>
        <p:nvSpPr>
          <p:cNvPr id="27" name="Text 25"/>
          <p:cNvSpPr/>
          <p:nvPr/>
        </p:nvSpPr>
        <p:spPr>
          <a:xfrm>
            <a:off x="7036308" y="4178808"/>
            <a:ext cx="2450592" cy="640080"/>
          </a:xfrm>
          <a:prstGeom prst="rect">
            <a:avLst/>
          </a:prstGeom>
          <a:noFill/>
          <a:ln/>
        </p:spPr>
        <p:txBody>
          <a:bodyPr wrap="square" lIns="0" tIns="0" rIns="0" bIns="0" rtlCol="0" anchor="t"/>
          <a:lstStyle/>
          <a:p>
            <a:pPr marL="0" indent="0" algn="l">
              <a:buNone/>
            </a:pPr>
            <a:r>
              <a:rPr lang="en-US" sz="1400" b="1" dirty="0">
                <a:solidFill>
                  <a:srgbClr val="373A36"/>
                </a:solidFill>
                <a:latin typeface="Roboto" pitchFamily="34" charset="0"/>
                <a:ea typeface="Roboto" pitchFamily="34" charset="-122"/>
                <a:cs typeface="Roboto" pitchFamily="34" charset="-120"/>
              </a:rPr>
              <a:t>Bound total maintenance burden</a:t>
            </a:r>
            <a:endParaRPr lang="en-US" sz="1400" dirty="0"/>
          </a:p>
        </p:txBody>
      </p:sp>
      <p:sp>
        <p:nvSpPr>
          <p:cNvPr id="28" name="Text 26"/>
          <p:cNvSpPr/>
          <p:nvPr/>
        </p:nvSpPr>
        <p:spPr>
          <a:xfrm>
            <a:off x="6396228" y="4892040"/>
            <a:ext cx="3044952" cy="914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A major contributor to today's technical debt. Passively shedding old code would help enormously.</a:t>
            </a:r>
            <a:endParaRPr lang="en-US" sz="1200" dirty="0"/>
          </a:p>
        </p:txBody>
      </p:sp>
      <p:pic>
        <p:nvPicPr>
          <p:cNvPr id="29" name="Image 0" descr="/home/claude/talk/assets/ornl_logo_green.png"/>
          <p:cNvPicPr>
            <a:picLocks noChangeAspect="1"/>
          </p:cNvPicPr>
          <p:nvPr/>
        </p:nvPicPr>
        <p:blipFill>
          <a:blip r:embed="rId3"/>
          <a:stretch>
            <a:fillRect/>
          </a:stretch>
        </p:blipFill>
        <p:spPr>
          <a:xfrm>
            <a:off x="457200" y="6473952"/>
            <a:ext cx="1188720" cy="285768"/>
          </a:xfrm>
          <a:prstGeom prst="rect">
            <a:avLst/>
          </a:prstGeom>
        </p:spPr>
      </p:pic>
      <p:sp>
        <p:nvSpPr>
          <p:cNvPr id="30" name="Text 27"/>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00454D"/>
                </a:solidFill>
                <a:latin typeface="Roboto" pitchFamily="34" charset="0"/>
                <a:ea typeface="Roboto" pitchFamily="34" charset="-122"/>
                <a:cs typeface="Robot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1051560"/>
          </a:xfrm>
          <a:prstGeom prst="rect">
            <a:avLst/>
          </a:prstGeom>
          <a:noFill/>
          <a:ln/>
        </p:spPr>
        <p:txBody>
          <a:bodyPr wrap="square" lIns="0" tIns="0" rIns="0" bIns="0" rtlCol="0" anchor="ctr"/>
          <a:lstStyle/>
          <a:p>
            <a:pPr marL="0" indent="0" algn="l">
              <a:buNone/>
            </a:pPr>
            <a:r>
              <a:rPr lang="en-US" sz="3200" b="1" dirty="0">
                <a:solidFill>
                  <a:srgbClr val="373A36"/>
                </a:solidFill>
                <a:latin typeface="Roboto Black" pitchFamily="34" charset="0"/>
                <a:ea typeface="Roboto Black" pitchFamily="34" charset="-122"/>
                <a:cs typeface="Roboto Black" pitchFamily="34" charset="-120"/>
              </a:rPr>
              <a:t>One shared interface lets an extension be written in any language</a:t>
            </a:r>
            <a:endParaRPr lang="en-US" sz="3200" dirty="0"/>
          </a:p>
        </p:txBody>
      </p:sp>
      <p:sp>
        <p:nvSpPr>
          <p:cNvPr id="3" name="Text 1"/>
          <p:cNvSpPr/>
          <p:nvPr/>
        </p:nvSpPr>
        <p:spPr>
          <a:xfrm>
            <a:off x="640080" y="1463040"/>
            <a:ext cx="10881360" cy="320040"/>
          </a:xfrm>
          <a:prstGeom prst="rect">
            <a:avLst/>
          </a:prstGeom>
          <a:noFill/>
          <a:ln/>
        </p:spPr>
        <p:txBody>
          <a:bodyPr wrap="square" lIns="0" tIns="0" rIns="0" bIns="0" rtlCol="0" anchor="ctr"/>
          <a:lstStyle/>
          <a:p>
            <a:pPr marL="0" indent="0" algn="l">
              <a:buNone/>
            </a:pPr>
            <a:r>
              <a:rPr lang="en-US" sz="1400" i="1" dirty="0">
                <a:solidFill>
                  <a:srgbClr val="373A36"/>
                </a:solidFill>
                <a:latin typeface="Roboto" pitchFamily="34" charset="0"/>
                <a:ea typeface="Roboto" pitchFamily="34" charset="-122"/>
                <a:cs typeface="Roboto" pitchFamily="34" charset="-120"/>
              </a:rPr>
              <a:t>A proof of concept. The full pipeline runs deeper than the diagram below.</a:t>
            </a:r>
            <a:endParaRPr lang="en-US" sz="1400" dirty="0"/>
          </a:p>
        </p:txBody>
      </p:sp>
      <p:sp>
        <p:nvSpPr>
          <p:cNvPr id="4" name="Shape 2"/>
          <p:cNvSpPr/>
          <p:nvPr/>
        </p:nvSpPr>
        <p:spPr>
          <a:xfrm>
            <a:off x="822960" y="1874520"/>
            <a:ext cx="3200400" cy="457200"/>
          </a:xfrm>
          <a:prstGeom prst="rect">
            <a:avLst/>
          </a:prstGeom>
          <a:solidFill>
            <a:srgbClr val="006BA6"/>
          </a:solidFill>
          <a:ln/>
        </p:spPr>
      </p:sp>
      <p:sp>
        <p:nvSpPr>
          <p:cNvPr id="5" name="Text 3"/>
          <p:cNvSpPr/>
          <p:nvPr/>
        </p:nvSpPr>
        <p:spPr>
          <a:xfrm>
            <a:off x="822960" y="1874520"/>
            <a:ext cx="3200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C++</a:t>
            </a:r>
            <a:endParaRPr lang="en-US" sz="1400" dirty="0"/>
          </a:p>
        </p:txBody>
      </p:sp>
      <p:sp>
        <p:nvSpPr>
          <p:cNvPr id="6" name="Shape 4"/>
          <p:cNvSpPr/>
          <p:nvPr/>
        </p:nvSpPr>
        <p:spPr>
          <a:xfrm>
            <a:off x="4389120" y="1874520"/>
            <a:ext cx="3200400" cy="457200"/>
          </a:xfrm>
          <a:prstGeom prst="rect">
            <a:avLst/>
          </a:prstGeom>
          <a:solidFill>
            <a:srgbClr val="006BA6"/>
          </a:solidFill>
          <a:ln/>
        </p:spPr>
      </p:sp>
      <p:sp>
        <p:nvSpPr>
          <p:cNvPr id="7" name="Text 5"/>
          <p:cNvSpPr/>
          <p:nvPr/>
        </p:nvSpPr>
        <p:spPr>
          <a:xfrm>
            <a:off x="4389120" y="1874520"/>
            <a:ext cx="3200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Rust</a:t>
            </a:r>
            <a:endParaRPr lang="en-US" sz="1400" dirty="0"/>
          </a:p>
        </p:txBody>
      </p:sp>
      <p:sp>
        <p:nvSpPr>
          <p:cNvPr id="8" name="Shape 6"/>
          <p:cNvSpPr/>
          <p:nvPr/>
        </p:nvSpPr>
        <p:spPr>
          <a:xfrm>
            <a:off x="7955280" y="1874520"/>
            <a:ext cx="3200400" cy="457200"/>
          </a:xfrm>
          <a:prstGeom prst="rect">
            <a:avLst/>
          </a:prstGeom>
          <a:solidFill>
            <a:srgbClr val="006BA6"/>
          </a:solidFill>
          <a:ln/>
        </p:spPr>
      </p:sp>
      <p:sp>
        <p:nvSpPr>
          <p:cNvPr id="9" name="Text 7"/>
          <p:cNvSpPr/>
          <p:nvPr/>
        </p:nvSpPr>
        <p:spPr>
          <a:xfrm>
            <a:off x="7955280" y="1874520"/>
            <a:ext cx="32004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Python-native</a:t>
            </a:r>
            <a:endParaRPr lang="en-US" sz="1400" dirty="0"/>
          </a:p>
        </p:txBody>
      </p:sp>
      <p:sp>
        <p:nvSpPr>
          <p:cNvPr id="10" name="Text 8"/>
          <p:cNvSpPr/>
          <p:nvPr/>
        </p:nvSpPr>
        <p:spPr>
          <a:xfrm>
            <a:off x="822960" y="2404872"/>
            <a:ext cx="10332720" cy="256032"/>
          </a:xfrm>
          <a:prstGeom prst="rect">
            <a:avLst/>
          </a:prstGeom>
          <a:noFill/>
          <a:ln/>
        </p:spPr>
        <p:txBody>
          <a:bodyPr wrap="square" lIns="0" tIns="0" rIns="0" bIns="0" rtlCol="0" anchor="ctr"/>
          <a:lstStyle/>
          <a:p>
            <a:pPr marL="0" indent="0" algn="ctr">
              <a:buNone/>
            </a:pPr>
            <a:r>
              <a:rPr lang="en-US" sz="1050" i="1" dirty="0">
                <a:solidFill>
                  <a:srgbClr val="373A36"/>
                </a:solidFill>
                <a:latin typeface="Roboto" pitchFamily="34" charset="0"/>
                <a:ea typeface="Roboto" pitchFamily="34" charset="-122"/>
                <a:cs typeface="Roboto" pitchFamily="34" charset="-120"/>
              </a:rPr>
              <a:t>(C++ shims and Python bindings produced by mantid-sdk-generate)</a:t>
            </a:r>
            <a:endParaRPr lang="en-US" sz="1050" dirty="0"/>
          </a:p>
        </p:txBody>
      </p:sp>
      <p:sp>
        <p:nvSpPr>
          <p:cNvPr id="11" name="Shape 9"/>
          <p:cNvSpPr/>
          <p:nvPr/>
        </p:nvSpPr>
        <p:spPr>
          <a:xfrm>
            <a:off x="822960" y="2798064"/>
            <a:ext cx="10332720" cy="457200"/>
          </a:xfrm>
          <a:prstGeom prst="rect">
            <a:avLst/>
          </a:prstGeom>
          <a:solidFill>
            <a:srgbClr val="00662C"/>
          </a:solidFill>
          <a:ln/>
        </p:spPr>
      </p:sp>
      <p:sp>
        <p:nvSpPr>
          <p:cNvPr id="12" name="Text 10"/>
          <p:cNvSpPr/>
          <p:nvPr/>
        </p:nvSpPr>
        <p:spPr>
          <a:xfrm>
            <a:off x="822960" y="2798064"/>
            <a:ext cx="103327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mantid-abi: the shared ABI contract</a:t>
            </a:r>
            <a:endParaRPr lang="en-US" sz="1400" dirty="0"/>
          </a:p>
        </p:txBody>
      </p:sp>
      <p:sp>
        <p:nvSpPr>
          <p:cNvPr id="13" name="Shape 11"/>
          <p:cNvSpPr/>
          <p:nvPr/>
        </p:nvSpPr>
        <p:spPr>
          <a:xfrm>
            <a:off x="822960" y="3438144"/>
            <a:ext cx="10332720" cy="457200"/>
          </a:xfrm>
          <a:prstGeom prst="rect">
            <a:avLst/>
          </a:prstGeom>
          <a:solidFill>
            <a:srgbClr val="00662C"/>
          </a:solidFill>
          <a:ln/>
        </p:spPr>
      </p:sp>
      <p:sp>
        <p:nvSpPr>
          <p:cNvPr id="14" name="Text 12"/>
          <p:cNvSpPr/>
          <p:nvPr/>
        </p:nvSpPr>
        <p:spPr>
          <a:xfrm>
            <a:off x="822960" y="3438144"/>
            <a:ext cx="103327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Roboto" pitchFamily="34" charset="0"/>
                <a:ea typeface="Roboto" pitchFamily="34" charset="-122"/>
                <a:cs typeface="Roboto" pitchFamily="34" charset="-120"/>
              </a:rPr>
              <a:t>Packaged as conda, resolved by pixi</a:t>
            </a:r>
            <a:endParaRPr lang="en-US" sz="1400" dirty="0"/>
          </a:p>
        </p:txBody>
      </p:sp>
      <p:sp>
        <p:nvSpPr>
          <p:cNvPr id="15" name="Shape 13"/>
          <p:cNvSpPr/>
          <p:nvPr/>
        </p:nvSpPr>
        <p:spPr>
          <a:xfrm>
            <a:off x="822960" y="4078224"/>
            <a:ext cx="10332720" cy="457200"/>
          </a:xfrm>
          <a:prstGeom prst="rect">
            <a:avLst/>
          </a:prstGeom>
          <a:solidFill>
            <a:srgbClr val="373A36"/>
          </a:solidFill>
          <a:ln/>
        </p:spPr>
      </p:sp>
      <p:sp>
        <p:nvSpPr>
          <p:cNvPr id="16" name="Text 14"/>
          <p:cNvSpPr/>
          <p:nvPr/>
        </p:nvSpPr>
        <p:spPr>
          <a:xfrm>
            <a:off x="822960" y="4078224"/>
            <a:ext cx="10332720" cy="457200"/>
          </a:xfrm>
          <a:prstGeom prst="rect">
            <a:avLst/>
          </a:prstGeom>
          <a:noFill/>
          <a:ln/>
        </p:spPr>
        <p:txBody>
          <a:bodyPr wrap="square" lIns="0" tIns="0" rIns="0" bIns="0" rtlCol="0" anchor="ctr"/>
          <a:lstStyle/>
          <a:p>
            <a:pPr marL="0" indent="0" algn="ctr">
              <a:buNone/>
            </a:pPr>
            <a:r>
              <a:rPr lang="en-US" sz="1400" b="1" dirty="0">
                <a:solidFill>
                  <a:srgbClr val="FF9E1B"/>
                </a:solidFill>
                <a:latin typeface="Roboto" pitchFamily="34" charset="0"/>
                <a:ea typeface="Roboto" pitchFamily="34" charset="-122"/>
                <a:cs typeface="Roboto" pitchFamily="34" charset="-120"/>
              </a:rPr>
              <a:t>Registry (discovers and loads at runtime)</a:t>
            </a:r>
            <a:endParaRPr lang="en-US" sz="1400" dirty="0"/>
          </a:p>
        </p:txBody>
      </p:sp>
      <p:sp>
        <p:nvSpPr>
          <p:cNvPr id="17" name="Shape 15"/>
          <p:cNvSpPr/>
          <p:nvPr/>
        </p:nvSpPr>
        <p:spPr>
          <a:xfrm>
            <a:off x="5989320" y="3255264"/>
            <a:ext cx="0" cy="182880"/>
          </a:xfrm>
          <a:prstGeom prst="line">
            <a:avLst/>
          </a:prstGeom>
          <a:noFill/>
          <a:ln w="19050">
            <a:solidFill>
              <a:srgbClr val="373A36"/>
            </a:solidFill>
            <a:prstDash val="solid"/>
            <a:tailEnd type="triangle"/>
          </a:ln>
        </p:spPr>
      </p:sp>
      <p:sp>
        <p:nvSpPr>
          <p:cNvPr id="18" name="Shape 16"/>
          <p:cNvSpPr/>
          <p:nvPr/>
        </p:nvSpPr>
        <p:spPr>
          <a:xfrm>
            <a:off x="5989320" y="3895344"/>
            <a:ext cx="0" cy="182880"/>
          </a:xfrm>
          <a:prstGeom prst="line">
            <a:avLst/>
          </a:prstGeom>
          <a:noFill/>
          <a:ln w="19050">
            <a:solidFill>
              <a:srgbClr val="373A36"/>
            </a:solidFill>
            <a:prstDash val="solid"/>
            <a:tailEnd type="triangle"/>
          </a:ln>
        </p:spPr>
      </p:sp>
      <p:sp>
        <p:nvSpPr>
          <p:cNvPr id="19" name="Shape 17"/>
          <p:cNvSpPr/>
          <p:nvPr/>
        </p:nvSpPr>
        <p:spPr>
          <a:xfrm>
            <a:off x="640080" y="4764024"/>
            <a:ext cx="10881360" cy="1325880"/>
          </a:xfrm>
          <a:prstGeom prst="rect">
            <a:avLst/>
          </a:prstGeom>
          <a:solidFill>
            <a:srgbClr val="F4F6F4"/>
          </a:solidFill>
          <a:ln w="12700">
            <a:solidFill>
              <a:srgbClr val="DBDCDB"/>
            </a:solidFill>
            <a:prstDash val="solid"/>
          </a:ln>
        </p:spPr>
      </p:sp>
      <p:sp>
        <p:nvSpPr>
          <p:cNvPr id="20" name="Text 18"/>
          <p:cNvSpPr/>
          <p:nvPr/>
        </p:nvSpPr>
        <p:spPr>
          <a:xfrm>
            <a:off x="914400" y="4901184"/>
            <a:ext cx="10332720" cy="320040"/>
          </a:xfrm>
          <a:prstGeom prst="rect">
            <a:avLst/>
          </a:prstGeom>
          <a:noFill/>
          <a:ln/>
        </p:spPr>
        <p:txBody>
          <a:bodyPr wrap="square" lIns="0" tIns="0" rIns="0" bIns="0" rtlCol="0" anchor="ctr"/>
          <a:lstStyle/>
          <a:p>
            <a:pPr marL="0" indent="0" algn="l">
              <a:buNone/>
            </a:pPr>
            <a:r>
              <a:rPr lang="en-US" sz="1250" b="1" dirty="0">
                <a:solidFill>
                  <a:srgbClr val="373A36"/>
                </a:solidFill>
                <a:latin typeface="Roboto" pitchFamily="34" charset="0"/>
                <a:ea typeface="Roboto" pitchFamily="34" charset="-122"/>
                <a:cs typeface="Roboto" pitchFamily="34" charset="-120"/>
              </a:rPr>
              <a:t>Not shown in the box diagram above, but load-bearing all the same:</a:t>
            </a:r>
            <a:endParaRPr lang="en-US" sz="1250" dirty="0"/>
          </a:p>
        </p:txBody>
      </p:sp>
      <p:sp>
        <p:nvSpPr>
          <p:cNvPr id="21" name="Text 19"/>
          <p:cNvSpPr/>
          <p:nvPr/>
        </p:nvSpPr>
        <p:spPr>
          <a:xfrm>
            <a:off x="914400" y="5221224"/>
            <a:ext cx="10332720" cy="822960"/>
          </a:xfrm>
          <a:prstGeom prst="rect">
            <a:avLst/>
          </a:prstGeom>
          <a:noFill/>
          <a:ln/>
        </p:spPr>
        <p:txBody>
          <a:bodyPr wrap="square" lIns="0" tIns="0" rIns="0" bIns="0" rtlCol="0" anchor="t"/>
          <a:lstStyle/>
          <a:p>
            <a:pPr marL="0" indent="0" algn="l">
              <a:buNone/>
            </a:pPr>
            <a:r>
              <a:rPr lang="en-US" sz="1250" dirty="0">
                <a:solidFill>
                  <a:srgbClr val="373A36"/>
                </a:solidFill>
                <a:latin typeface="Roboto" pitchFamily="34" charset="0"/>
                <a:ea typeface="Roboto" pitchFamily="34" charset="-122"/>
                <a:cs typeface="Roboto" pitchFamily="34" charset="-120"/>
              </a:rPr>
              <a:t>The ABI itself (a plain C header, two fixed shapes). The code generator that reads annotated C++ and writes shims and Python bindings. Five separately buildable conda packages, resolved into one environment by pixi. None of it fits in one box on a slide.</a:t>
            </a:r>
            <a:endParaRPr lang="en-US" sz="1250" dirty="0"/>
          </a:p>
        </p:txBody>
      </p:sp>
      <p:pic>
        <p:nvPicPr>
          <p:cNvPr id="22" name="Image 0" descr="/home/claude/talk/assets/ornl_logo_green.png"/>
          <p:cNvPicPr>
            <a:picLocks noChangeAspect="1"/>
          </p:cNvPicPr>
          <p:nvPr/>
        </p:nvPicPr>
        <p:blipFill>
          <a:blip r:embed="rId3"/>
          <a:stretch>
            <a:fillRect/>
          </a:stretch>
        </p:blipFill>
        <p:spPr>
          <a:xfrm>
            <a:off x="457200" y="6473952"/>
            <a:ext cx="1188720" cy="285768"/>
          </a:xfrm>
          <a:prstGeom prst="rect">
            <a:avLst/>
          </a:prstGeom>
        </p:spPr>
      </p:pic>
      <p:sp>
        <p:nvSpPr>
          <p:cNvPr id="23" name="Text 20"/>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00454D"/>
                </a:solidFill>
                <a:latin typeface="Roboto" pitchFamily="34" charset="0"/>
                <a:ea typeface="Roboto" pitchFamily="34" charset="-122"/>
                <a:cs typeface="Robot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828800"/>
            <a:ext cx="10515600" cy="822960"/>
          </a:xfrm>
          <a:prstGeom prst="rect">
            <a:avLst/>
          </a:prstGeom>
          <a:noFill/>
          <a:ln/>
        </p:spPr>
        <p:txBody>
          <a:bodyPr wrap="square" lIns="0" tIns="0" rIns="0" bIns="0" rtlCol="0" anchor="ctr"/>
          <a:lstStyle/>
          <a:p>
            <a:pPr marL="0" indent="0" algn="l">
              <a:buNone/>
            </a:pPr>
            <a:r>
              <a:rPr lang="en-US" sz="3200" b="1" dirty="0">
                <a:solidFill>
                  <a:srgbClr val="373A36"/>
                </a:solidFill>
                <a:latin typeface="Roboto Black" pitchFamily="34" charset="0"/>
                <a:ea typeface="Roboto Black" pitchFamily="34" charset="-122"/>
                <a:cs typeface="Roboto Black" pitchFamily="34" charset="-120"/>
              </a:rPr>
              <a:t>A short live run shows this system working, not just slides</a:t>
            </a:r>
            <a:endParaRPr lang="en-US" sz="3200" dirty="0"/>
          </a:p>
        </p:txBody>
      </p:sp>
      <p:sp>
        <p:nvSpPr>
          <p:cNvPr id="3" name="Shape 1"/>
          <p:cNvSpPr/>
          <p:nvPr/>
        </p:nvSpPr>
        <p:spPr>
          <a:xfrm>
            <a:off x="822960" y="2880360"/>
            <a:ext cx="7772400" cy="777240"/>
          </a:xfrm>
          <a:prstGeom prst="rect">
            <a:avLst/>
          </a:prstGeom>
          <a:solidFill>
            <a:srgbClr val="2A2E2C"/>
          </a:solidFill>
          <a:ln w="12700">
            <a:solidFill>
              <a:srgbClr val="DBDCDB"/>
            </a:solidFill>
            <a:prstDash val="solid"/>
          </a:ln>
        </p:spPr>
      </p:sp>
      <p:sp>
        <p:nvSpPr>
          <p:cNvPr id="4" name="Text 2"/>
          <p:cNvSpPr/>
          <p:nvPr/>
        </p:nvSpPr>
        <p:spPr>
          <a:xfrm>
            <a:off x="1097280" y="2880360"/>
            <a:ext cx="7315200" cy="777240"/>
          </a:xfrm>
          <a:prstGeom prst="rect">
            <a:avLst/>
          </a:prstGeom>
          <a:noFill/>
          <a:ln/>
        </p:spPr>
        <p:txBody>
          <a:bodyPr wrap="square" lIns="0" tIns="0" rIns="0" bIns="0" rtlCol="0" anchor="ctr"/>
          <a:lstStyle/>
          <a:p>
            <a:pPr marL="0" indent="0" algn="l">
              <a:buNone/>
            </a:pPr>
            <a:r>
              <a:rPr lang="en-US" sz="1600" dirty="0">
                <a:solidFill>
                  <a:srgbClr val="00B38F"/>
                </a:solidFill>
                <a:latin typeface="Courier New" pitchFamily="34" charset="0"/>
                <a:ea typeface="Courier New" pitchFamily="34" charset="-122"/>
                <a:cs typeface="Courier New" pitchFamily="34" charset="-120"/>
              </a:rPr>
              <a:t>cd sdk_poc/cpp_consumer &amp;&amp; pixi run demo</a:t>
            </a:r>
            <a:endParaRPr lang="en-US" sz="1600" dirty="0"/>
          </a:p>
        </p:txBody>
      </p:sp>
      <p:sp>
        <p:nvSpPr>
          <p:cNvPr id="5" name="Text 3"/>
          <p:cNvSpPr/>
          <p:nvPr/>
        </p:nvSpPr>
        <p:spPr>
          <a:xfrm>
            <a:off x="822960" y="3886200"/>
            <a:ext cx="9144000" cy="457200"/>
          </a:xfrm>
          <a:prstGeom prst="rect">
            <a:avLst/>
          </a:prstGeom>
          <a:noFill/>
          <a:ln/>
        </p:spPr>
        <p:txBody>
          <a:bodyPr wrap="square" lIns="0" tIns="0" rIns="0" bIns="0" rtlCol="0" anchor="ctr"/>
          <a:lstStyle/>
          <a:p>
            <a:pPr marL="0" indent="0" algn="l">
              <a:buNone/>
            </a:pPr>
            <a:r>
              <a:rPr lang="en-US" sz="1400" i="1" dirty="0">
                <a:solidFill>
                  <a:srgbClr val="373A36"/>
                </a:solidFill>
                <a:latin typeface="Roboto" pitchFamily="34" charset="0"/>
                <a:ea typeface="Roboto" pitchFamily="34" charset="-122"/>
                <a:cs typeface="Roboto" pitchFamily="34" charset="-120"/>
              </a:rPr>
              <a:t>Live, if time allows. Captured output on the next slide either way.</a:t>
            </a:r>
            <a:endParaRPr lang="en-US" sz="1400" dirty="0"/>
          </a:p>
        </p:txBody>
      </p:sp>
      <p:pic>
        <p:nvPicPr>
          <p:cNvPr id="6" name="Image 0" descr="/home/claude/talk/assets/ornl_logo_green.png"/>
          <p:cNvPicPr>
            <a:picLocks noChangeAspect="1"/>
          </p:cNvPicPr>
          <p:nvPr/>
        </p:nvPicPr>
        <p:blipFill>
          <a:blip r:embed="rId3"/>
          <a:stretch>
            <a:fillRect/>
          </a:stretch>
        </p:blipFill>
        <p:spPr>
          <a:xfrm>
            <a:off x="457200" y="6473952"/>
            <a:ext cx="1188720" cy="285768"/>
          </a:xfrm>
          <a:prstGeom prst="rect">
            <a:avLst/>
          </a:prstGeom>
        </p:spPr>
      </p:pic>
      <p:sp>
        <p:nvSpPr>
          <p:cNvPr id="7" name="Text 4"/>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00454D"/>
                </a:solidFill>
                <a:latin typeface="Roboto" pitchFamily="34" charset="0"/>
                <a:ea typeface="Roboto" pitchFamily="34" charset="-122"/>
                <a:cs typeface="Robot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1051560"/>
          </a:xfrm>
          <a:prstGeom prst="rect">
            <a:avLst/>
          </a:prstGeom>
          <a:noFill/>
          <a:ln/>
        </p:spPr>
        <p:txBody>
          <a:bodyPr wrap="square" lIns="0" tIns="0" rIns="0" bIns="0" rtlCol="0" anchor="ctr"/>
          <a:lstStyle/>
          <a:p>
            <a:pPr marL="0" indent="0" algn="l">
              <a:buNone/>
            </a:pPr>
            <a:r>
              <a:rPr lang="en-US" sz="3200" b="1" dirty="0">
                <a:solidFill>
                  <a:srgbClr val="373A36"/>
                </a:solidFill>
                <a:latin typeface="Roboto Black" pitchFamily="34" charset="0"/>
                <a:ea typeface="Roboto Black" pitchFamily="34" charset="-122"/>
                <a:cs typeface="Roboto Black" pitchFamily="34" charset="-120"/>
              </a:rPr>
              <a:t>Five separately built projects combine into one working consumer</a:t>
            </a:r>
            <a:endParaRPr lang="en-US" sz="3200" dirty="0"/>
          </a:p>
        </p:txBody>
      </p:sp>
      <p:sp>
        <p:nvSpPr>
          <p:cNvPr id="3" name="Text 1"/>
          <p:cNvSpPr/>
          <p:nvPr/>
        </p:nvSpPr>
        <p:spPr>
          <a:xfrm>
            <a:off x="640080" y="1463040"/>
            <a:ext cx="10881360" cy="320040"/>
          </a:xfrm>
          <a:prstGeom prst="rect">
            <a:avLst/>
          </a:prstGeom>
          <a:noFill/>
          <a:ln/>
        </p:spPr>
        <p:txBody>
          <a:bodyPr wrap="square" lIns="0" tIns="0" rIns="0" bIns="0" rtlCol="0" anchor="ctr"/>
          <a:lstStyle/>
          <a:p>
            <a:pPr marL="0" indent="0" algn="l">
              <a:buNone/>
            </a:pPr>
            <a:r>
              <a:rPr lang="en-US" sz="1400" i="1" dirty="0">
                <a:solidFill>
                  <a:srgbClr val="373A36"/>
                </a:solidFill>
                <a:latin typeface="Roboto" pitchFamily="34" charset="0"/>
                <a:ea typeface="Roboto" pitchFamily="34" charset="-122"/>
                <a:cs typeface="Roboto" pitchFamily="34" charset="-120"/>
              </a:rPr>
              <a:t>Built and versioned separately. This output only exists because pixi resolved all five together.</a:t>
            </a:r>
            <a:endParaRPr lang="en-US" sz="1400" dirty="0"/>
          </a:p>
        </p:txBody>
      </p:sp>
      <p:sp>
        <p:nvSpPr>
          <p:cNvPr id="4" name="Shape 2"/>
          <p:cNvSpPr/>
          <p:nvPr/>
        </p:nvSpPr>
        <p:spPr>
          <a:xfrm>
            <a:off x="790956" y="1874520"/>
            <a:ext cx="2011680" cy="457200"/>
          </a:xfrm>
          <a:prstGeom prst="rect">
            <a:avLst/>
          </a:prstGeom>
          <a:solidFill>
            <a:srgbClr val="00662C"/>
          </a:solidFill>
          <a:ln/>
        </p:spPr>
      </p:sp>
      <p:sp>
        <p:nvSpPr>
          <p:cNvPr id="5" name="Text 3"/>
          <p:cNvSpPr/>
          <p:nvPr/>
        </p:nvSpPr>
        <p:spPr>
          <a:xfrm>
            <a:off x="790956" y="1874520"/>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mantid-abi</a:t>
            </a:r>
            <a:endParaRPr lang="en-US" sz="1050" dirty="0"/>
          </a:p>
        </p:txBody>
      </p:sp>
      <p:sp>
        <p:nvSpPr>
          <p:cNvPr id="6" name="Shape 4"/>
          <p:cNvSpPr/>
          <p:nvPr/>
        </p:nvSpPr>
        <p:spPr>
          <a:xfrm>
            <a:off x="2939796" y="1874520"/>
            <a:ext cx="2011680" cy="457200"/>
          </a:xfrm>
          <a:prstGeom prst="rect">
            <a:avLst/>
          </a:prstGeom>
          <a:solidFill>
            <a:srgbClr val="00662C"/>
          </a:solidFill>
          <a:ln/>
        </p:spPr>
      </p:sp>
      <p:sp>
        <p:nvSpPr>
          <p:cNvPr id="7" name="Text 5"/>
          <p:cNvSpPr/>
          <p:nvPr/>
        </p:nvSpPr>
        <p:spPr>
          <a:xfrm>
            <a:off x="2939796" y="1874520"/>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packaged_extension (C++)</a:t>
            </a:r>
            <a:endParaRPr lang="en-US" sz="1050" dirty="0"/>
          </a:p>
        </p:txBody>
      </p:sp>
      <p:sp>
        <p:nvSpPr>
          <p:cNvPr id="8" name="Shape 6"/>
          <p:cNvSpPr/>
          <p:nvPr/>
        </p:nvSpPr>
        <p:spPr>
          <a:xfrm>
            <a:off x="5088636" y="1874520"/>
            <a:ext cx="2011680" cy="457200"/>
          </a:xfrm>
          <a:prstGeom prst="rect">
            <a:avLst/>
          </a:prstGeom>
          <a:solidFill>
            <a:srgbClr val="00662C"/>
          </a:solidFill>
          <a:ln/>
        </p:spPr>
      </p:sp>
      <p:sp>
        <p:nvSpPr>
          <p:cNvPr id="9" name="Text 7"/>
          <p:cNvSpPr/>
          <p:nvPr/>
        </p:nvSpPr>
        <p:spPr>
          <a:xfrm>
            <a:off x="5088636" y="1874520"/>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rust_extension</a:t>
            </a:r>
            <a:endParaRPr lang="en-US" sz="1050" dirty="0"/>
          </a:p>
        </p:txBody>
      </p:sp>
      <p:sp>
        <p:nvSpPr>
          <p:cNvPr id="10" name="Shape 8"/>
          <p:cNvSpPr/>
          <p:nvPr/>
        </p:nvSpPr>
        <p:spPr>
          <a:xfrm>
            <a:off x="7237476" y="1874520"/>
            <a:ext cx="2011680" cy="457200"/>
          </a:xfrm>
          <a:prstGeom prst="rect">
            <a:avLst/>
          </a:prstGeom>
          <a:solidFill>
            <a:srgbClr val="00662C"/>
          </a:solidFill>
          <a:ln/>
        </p:spPr>
      </p:sp>
      <p:sp>
        <p:nvSpPr>
          <p:cNvPr id="11" name="Text 9"/>
          <p:cNvSpPr/>
          <p:nvPr/>
        </p:nvSpPr>
        <p:spPr>
          <a:xfrm>
            <a:off x="7237476" y="1874520"/>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workspace_catalog</a:t>
            </a:r>
            <a:endParaRPr lang="en-US" sz="1050" dirty="0"/>
          </a:p>
        </p:txBody>
      </p:sp>
      <p:sp>
        <p:nvSpPr>
          <p:cNvPr id="12" name="Shape 10"/>
          <p:cNvSpPr/>
          <p:nvPr/>
        </p:nvSpPr>
        <p:spPr>
          <a:xfrm>
            <a:off x="9386316" y="1874520"/>
            <a:ext cx="2011680" cy="457200"/>
          </a:xfrm>
          <a:prstGeom prst="rect">
            <a:avLst/>
          </a:prstGeom>
          <a:solidFill>
            <a:srgbClr val="00662C"/>
          </a:solidFill>
          <a:ln/>
        </p:spPr>
      </p:sp>
      <p:sp>
        <p:nvSpPr>
          <p:cNvPr id="13" name="Text 11"/>
          <p:cNvSpPr/>
          <p:nvPr/>
        </p:nvSpPr>
        <p:spPr>
          <a:xfrm>
            <a:off x="9386316" y="1874520"/>
            <a:ext cx="2011680"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cpp_consumer</a:t>
            </a:r>
            <a:endParaRPr lang="en-US" sz="1050" dirty="0"/>
          </a:p>
        </p:txBody>
      </p:sp>
      <p:sp>
        <p:nvSpPr>
          <p:cNvPr id="14" name="Shape 12"/>
          <p:cNvSpPr/>
          <p:nvPr/>
        </p:nvSpPr>
        <p:spPr>
          <a:xfrm>
            <a:off x="6094476" y="2331720"/>
            <a:ext cx="0" cy="274320"/>
          </a:xfrm>
          <a:prstGeom prst="line">
            <a:avLst/>
          </a:prstGeom>
          <a:noFill/>
          <a:ln w="19050">
            <a:solidFill>
              <a:srgbClr val="00662C"/>
            </a:solidFill>
            <a:prstDash val="solid"/>
            <a:tailEnd type="triangle"/>
          </a:ln>
        </p:spPr>
      </p:sp>
      <p:sp>
        <p:nvSpPr>
          <p:cNvPr id="15" name="Shape 13"/>
          <p:cNvSpPr/>
          <p:nvPr/>
        </p:nvSpPr>
        <p:spPr>
          <a:xfrm>
            <a:off x="4997196" y="2304288"/>
            <a:ext cx="2194560" cy="219456"/>
          </a:xfrm>
          <a:prstGeom prst="rect">
            <a:avLst/>
          </a:prstGeom>
          <a:solidFill>
            <a:srgbClr val="FFFFFF"/>
          </a:solidFill>
          <a:ln/>
        </p:spPr>
      </p:sp>
      <p:sp>
        <p:nvSpPr>
          <p:cNvPr id="16" name="Text 14"/>
          <p:cNvSpPr/>
          <p:nvPr/>
        </p:nvSpPr>
        <p:spPr>
          <a:xfrm>
            <a:off x="4722876" y="2295144"/>
            <a:ext cx="2743200" cy="237744"/>
          </a:xfrm>
          <a:prstGeom prst="rect">
            <a:avLst/>
          </a:prstGeom>
          <a:noFill/>
          <a:ln/>
        </p:spPr>
        <p:txBody>
          <a:bodyPr wrap="square" lIns="0" tIns="0" rIns="0" bIns="0" rtlCol="0" anchor="ctr"/>
          <a:lstStyle/>
          <a:p>
            <a:pPr marL="0" indent="0" algn="ctr">
              <a:buNone/>
            </a:pPr>
            <a:r>
              <a:rPr lang="en-US" sz="1050" i="1" dirty="0">
                <a:solidFill>
                  <a:srgbClr val="00662C"/>
                </a:solidFill>
                <a:latin typeface="Roboto" pitchFamily="34" charset="0"/>
                <a:ea typeface="Roboto" pitchFamily="34" charset="-122"/>
                <a:cs typeface="Roboto" pitchFamily="34" charset="-120"/>
              </a:rPr>
              <a:t>one pixi environment</a:t>
            </a:r>
            <a:endParaRPr lang="en-US" sz="1050" dirty="0"/>
          </a:p>
        </p:txBody>
      </p:sp>
      <p:sp>
        <p:nvSpPr>
          <p:cNvPr id="17" name="Shape 15"/>
          <p:cNvSpPr/>
          <p:nvPr/>
        </p:nvSpPr>
        <p:spPr>
          <a:xfrm>
            <a:off x="822960" y="2697480"/>
            <a:ext cx="10515600" cy="3246120"/>
          </a:xfrm>
          <a:prstGeom prst="rect">
            <a:avLst/>
          </a:prstGeom>
          <a:solidFill>
            <a:srgbClr val="2A2E2C"/>
          </a:solidFill>
          <a:ln w="12700">
            <a:solidFill>
              <a:srgbClr val="DBDCDB"/>
            </a:solidFill>
            <a:prstDash val="solid"/>
          </a:ln>
        </p:spPr>
      </p:sp>
      <p:sp>
        <p:nvSpPr>
          <p:cNvPr id="18" name="Text 16"/>
          <p:cNvSpPr/>
          <p:nvPr/>
        </p:nvSpPr>
        <p:spPr>
          <a:xfrm>
            <a:off x="1143000" y="2852928"/>
            <a:ext cx="9875520" cy="2926080"/>
          </a:xfrm>
          <a:prstGeom prst="rect">
            <a:avLst/>
          </a:prstGeom>
          <a:noFill/>
          <a:ln/>
        </p:spPr>
        <p:txBody>
          <a:bodyPr wrap="square" lIns="0" tIns="0" rIns="0" bIns="0" rtlCol="0" anchor="t"/>
          <a:lstStyle/>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Available algorithms: BackgroundSubtract LinearScale Normalize ScaleWorkspace</a:t>
            </a:r>
            <a:endParaRPr lang="en-US" sz="1250" dirty="0"/>
          </a:p>
          <a:p>
            <a:pPr marL="0" indent="0" algn="l">
              <a:lnSpc>
                <a:spcPct val="120000"/>
              </a:lnSpc>
              <a:buNone/>
            </a:pP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RustDoubler.execute(5.0) = 10</a:t>
            </a: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BackgroundSubtract(Value=5, BackgroundLevel=...) -&gt; Result = 3</a:t>
            </a: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Normalize(Value=5, MonitorCount=...) -&gt; Result = 0.5</a:t>
            </a: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LinearScale(Value=5, Scale=...) -&gt; Result = 15</a:t>
            </a: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ScaleWorkspace(sample_run_1, Factor=2.5) -&gt; [2.5, 5, 7.5, 10, 12.5]</a:t>
            </a: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Output workspace Instrument metadata: PoC-Diffractometer</a:t>
            </a: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Output workspace history:</a:t>
            </a: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  LoadRawData(File=sample_run_1.nxs)</a:t>
            </a:r>
            <a:endParaRPr lang="en-US" sz="1250" dirty="0"/>
          </a:p>
          <a:p>
            <a:pPr marL="0" indent="0" algn="l">
              <a:lnSpc>
                <a:spcPct val="120000"/>
              </a:lnSpc>
              <a:buNone/>
            </a:pPr>
            <a:r>
              <a:rPr lang="en-US" sz="1250" dirty="0">
                <a:solidFill>
                  <a:srgbClr val="00B38F"/>
                </a:solidFill>
                <a:latin typeface="Courier New" pitchFamily="34" charset="0"/>
                <a:ea typeface="Courier New" pitchFamily="34" charset="-122"/>
                <a:cs typeface="Courier New" pitchFamily="34" charset="-120"/>
              </a:rPr>
              <a:t>  ScaleWorkspace(InputWorkspace=&lt;uuid&gt;, Factor=2.5)</a:t>
            </a:r>
            <a:endParaRPr lang="en-US" sz="1250" dirty="0"/>
          </a:p>
        </p:txBody>
      </p:sp>
      <p:pic>
        <p:nvPicPr>
          <p:cNvPr id="19" name="Image 0" descr="/home/claude/talk/assets/ornl_logo_green.png"/>
          <p:cNvPicPr>
            <a:picLocks noChangeAspect="1"/>
          </p:cNvPicPr>
          <p:nvPr/>
        </p:nvPicPr>
        <p:blipFill>
          <a:blip r:embed="rId3"/>
          <a:stretch>
            <a:fillRect/>
          </a:stretch>
        </p:blipFill>
        <p:spPr>
          <a:xfrm>
            <a:off x="457200" y="6473952"/>
            <a:ext cx="1188720" cy="285768"/>
          </a:xfrm>
          <a:prstGeom prst="rect">
            <a:avLst/>
          </a:prstGeom>
        </p:spPr>
      </p:pic>
      <p:sp>
        <p:nvSpPr>
          <p:cNvPr id="20" name="Text 17"/>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00454D"/>
                </a:solidFill>
                <a:latin typeface="Roboto" pitchFamily="34" charset="0"/>
                <a:ea typeface="Roboto" pitchFamily="34" charset="-122"/>
                <a:cs typeface="Robot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1051560"/>
          </a:xfrm>
          <a:prstGeom prst="rect">
            <a:avLst/>
          </a:prstGeom>
          <a:noFill/>
          <a:ln/>
        </p:spPr>
        <p:txBody>
          <a:bodyPr wrap="square" lIns="0" tIns="0" rIns="0" bIns="0" rtlCol="0" anchor="ctr"/>
          <a:lstStyle/>
          <a:p>
            <a:pPr marL="0" indent="0" algn="l">
              <a:buNone/>
            </a:pPr>
            <a:r>
              <a:rPr lang="en-US" sz="3200" b="1" dirty="0">
                <a:solidFill>
                  <a:srgbClr val="373A36"/>
                </a:solidFill>
                <a:latin typeface="Roboto Black" pitchFamily="34" charset="0"/>
                <a:ea typeface="Roboto Black" pitchFamily="34" charset="-122"/>
                <a:cs typeface="Roboto Black" pitchFamily="34" charset="-120"/>
              </a:rPr>
              <a:t>Migrating the data layer follows a four-step strangler fig plan</a:t>
            </a:r>
            <a:endParaRPr lang="en-US" sz="3200" dirty="0"/>
          </a:p>
        </p:txBody>
      </p:sp>
      <p:sp>
        <p:nvSpPr>
          <p:cNvPr id="3" name="Text 1"/>
          <p:cNvSpPr/>
          <p:nvPr/>
        </p:nvSpPr>
        <p:spPr>
          <a:xfrm>
            <a:off x="640080" y="1463040"/>
            <a:ext cx="10881360" cy="320040"/>
          </a:xfrm>
          <a:prstGeom prst="rect">
            <a:avLst/>
          </a:prstGeom>
          <a:noFill/>
          <a:ln/>
        </p:spPr>
        <p:txBody>
          <a:bodyPr wrap="square" lIns="0" tIns="0" rIns="0" bIns="0" rtlCol="0" anchor="ctr"/>
          <a:lstStyle/>
          <a:p>
            <a:pPr marL="0" indent="0" algn="l">
              <a:buNone/>
            </a:pPr>
            <a:r>
              <a:rPr lang="en-US" sz="1400" i="1" dirty="0">
                <a:solidFill>
                  <a:srgbClr val="373A36"/>
                </a:solidFill>
                <a:latin typeface="Roboto" pitchFamily="34" charset="0"/>
                <a:ea typeface="Roboto" pitchFamily="34" charset="-122"/>
                <a:cs typeface="Roboto" pitchFamily="34" charset="-120"/>
              </a:rPr>
              <a:t>Algorithms stay unchanged at every one of these steps.</a:t>
            </a:r>
            <a:endParaRPr lang="en-US" sz="1400" dirty="0"/>
          </a:p>
        </p:txBody>
      </p:sp>
      <p:sp>
        <p:nvSpPr>
          <p:cNvPr id="4" name="Shape 2"/>
          <p:cNvSpPr/>
          <p:nvPr/>
        </p:nvSpPr>
        <p:spPr>
          <a:xfrm>
            <a:off x="640080" y="1874520"/>
            <a:ext cx="2487168" cy="685800"/>
          </a:xfrm>
          <a:prstGeom prst="rect">
            <a:avLst/>
          </a:prstGeom>
          <a:solidFill>
            <a:srgbClr val="00662C"/>
          </a:solidFill>
          <a:ln/>
        </p:spPr>
      </p:sp>
      <p:sp>
        <p:nvSpPr>
          <p:cNvPr id="5" name="Text 3"/>
          <p:cNvSpPr/>
          <p:nvPr/>
        </p:nvSpPr>
        <p:spPr>
          <a:xfrm>
            <a:off x="777240" y="1874520"/>
            <a:ext cx="2212848" cy="685800"/>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1. Compartmentalize</a:t>
            </a:r>
            <a:endParaRPr lang="en-US" sz="1400" dirty="0"/>
          </a:p>
        </p:txBody>
      </p:sp>
      <p:sp>
        <p:nvSpPr>
          <p:cNvPr id="6" name="Shape 4"/>
          <p:cNvSpPr/>
          <p:nvPr/>
        </p:nvSpPr>
        <p:spPr>
          <a:xfrm>
            <a:off x="640080" y="2560320"/>
            <a:ext cx="2487168" cy="2331720"/>
          </a:xfrm>
          <a:prstGeom prst="rect">
            <a:avLst/>
          </a:prstGeom>
          <a:solidFill>
            <a:srgbClr val="F4F6F4"/>
          </a:solidFill>
          <a:ln w="12700">
            <a:solidFill>
              <a:srgbClr val="DBDCDB"/>
            </a:solidFill>
            <a:prstDash val="solid"/>
          </a:ln>
        </p:spPr>
      </p:sp>
      <p:sp>
        <p:nvSpPr>
          <p:cNvPr id="7" name="Text 5"/>
          <p:cNvSpPr/>
          <p:nvPr/>
        </p:nvSpPr>
        <p:spPr>
          <a:xfrm>
            <a:off x="822960" y="2743200"/>
            <a:ext cx="2121408" cy="2057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Put one stable interface, a WorkspaceCatalog, between algorithms and data.</a:t>
            </a:r>
            <a:endParaRPr lang="en-US" sz="1200" dirty="0"/>
          </a:p>
        </p:txBody>
      </p:sp>
      <p:sp>
        <p:nvSpPr>
          <p:cNvPr id="8" name="Shape 6"/>
          <p:cNvSpPr/>
          <p:nvPr/>
        </p:nvSpPr>
        <p:spPr>
          <a:xfrm>
            <a:off x="3346704" y="1874520"/>
            <a:ext cx="2487168" cy="685800"/>
          </a:xfrm>
          <a:prstGeom prst="rect">
            <a:avLst/>
          </a:prstGeom>
          <a:solidFill>
            <a:srgbClr val="FF9E1B"/>
          </a:solidFill>
          <a:ln/>
        </p:spPr>
      </p:sp>
      <p:sp>
        <p:nvSpPr>
          <p:cNvPr id="9" name="Text 7"/>
          <p:cNvSpPr/>
          <p:nvPr/>
        </p:nvSpPr>
        <p:spPr>
          <a:xfrm>
            <a:off x="3483864" y="1874520"/>
            <a:ext cx="2212848" cy="685800"/>
          </a:xfrm>
          <a:prstGeom prst="rect">
            <a:avLst/>
          </a:prstGeom>
          <a:noFill/>
          <a:ln/>
        </p:spPr>
        <p:txBody>
          <a:bodyPr wrap="square" lIns="0" tIns="0" rIns="0" bIns="0" rtlCol="0" anchor="ctr"/>
          <a:lstStyle/>
          <a:p>
            <a:pPr marL="0" indent="0" algn="l">
              <a:buNone/>
            </a:pPr>
            <a:r>
              <a:rPr lang="en-US" sz="1400" b="1" dirty="0">
                <a:solidFill>
                  <a:srgbClr val="373A36"/>
                </a:solidFill>
                <a:latin typeface="Roboto" pitchFamily="34" charset="0"/>
                <a:ea typeface="Roboto" pitchFamily="34" charset="-122"/>
                <a:cs typeface="Roboto" pitchFamily="34" charset="-120"/>
              </a:rPr>
              <a:t>2. Wrap what exists</a:t>
            </a:r>
            <a:endParaRPr lang="en-US" sz="1400" dirty="0"/>
          </a:p>
        </p:txBody>
      </p:sp>
      <p:sp>
        <p:nvSpPr>
          <p:cNvPr id="10" name="Shape 8"/>
          <p:cNvSpPr/>
          <p:nvPr/>
        </p:nvSpPr>
        <p:spPr>
          <a:xfrm>
            <a:off x="3346704" y="2560320"/>
            <a:ext cx="2487168" cy="2331720"/>
          </a:xfrm>
          <a:prstGeom prst="rect">
            <a:avLst/>
          </a:prstGeom>
          <a:solidFill>
            <a:srgbClr val="F4F6F4"/>
          </a:solidFill>
          <a:ln w="12700">
            <a:solidFill>
              <a:srgbClr val="DBDCDB"/>
            </a:solidFill>
            <a:prstDash val="solid"/>
          </a:ln>
        </p:spPr>
      </p:sp>
      <p:sp>
        <p:nvSpPr>
          <p:cNvPr id="11" name="Text 9"/>
          <p:cNvSpPr/>
          <p:nvPr/>
        </p:nvSpPr>
        <p:spPr>
          <a:xfrm>
            <a:off x="3529584" y="2743200"/>
            <a:ext cx="2121408" cy="2057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Back that interface with the current, legacy data model first. Nothing new to port yet.</a:t>
            </a:r>
            <a:endParaRPr lang="en-US" sz="1200" dirty="0"/>
          </a:p>
        </p:txBody>
      </p:sp>
      <p:sp>
        <p:nvSpPr>
          <p:cNvPr id="12" name="Shape 10"/>
          <p:cNvSpPr/>
          <p:nvPr/>
        </p:nvSpPr>
        <p:spPr>
          <a:xfrm>
            <a:off x="6053328" y="1874520"/>
            <a:ext cx="2487168" cy="685800"/>
          </a:xfrm>
          <a:prstGeom prst="rect">
            <a:avLst/>
          </a:prstGeom>
          <a:solidFill>
            <a:srgbClr val="00662C"/>
          </a:solidFill>
          <a:ln/>
        </p:spPr>
      </p:sp>
      <p:sp>
        <p:nvSpPr>
          <p:cNvPr id="13" name="Text 11"/>
          <p:cNvSpPr/>
          <p:nvPr/>
        </p:nvSpPr>
        <p:spPr>
          <a:xfrm>
            <a:off x="6190488" y="1874520"/>
            <a:ext cx="2212848" cy="685800"/>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3. Replace incrementally</a:t>
            </a:r>
            <a:endParaRPr lang="en-US" sz="1400" dirty="0"/>
          </a:p>
        </p:txBody>
      </p:sp>
      <p:sp>
        <p:nvSpPr>
          <p:cNvPr id="14" name="Shape 12"/>
          <p:cNvSpPr/>
          <p:nvPr/>
        </p:nvSpPr>
        <p:spPr>
          <a:xfrm>
            <a:off x="6053328" y="2560320"/>
            <a:ext cx="2487168" cy="2331720"/>
          </a:xfrm>
          <a:prstGeom prst="rect">
            <a:avLst/>
          </a:prstGeom>
          <a:solidFill>
            <a:srgbClr val="F4F6F4"/>
          </a:solidFill>
          <a:ln w="12700">
            <a:solidFill>
              <a:srgbClr val="DBDCDB"/>
            </a:solidFill>
            <a:prstDash val="solid"/>
          </a:ln>
        </p:spPr>
      </p:sp>
      <p:sp>
        <p:nvSpPr>
          <p:cNvPr id="15" name="Text 13"/>
          <p:cNvSpPr/>
          <p:nvPr/>
        </p:nvSpPr>
        <p:spPr>
          <a:xfrm>
            <a:off x="6236208" y="2743200"/>
            <a:ext cx="2121408" cy="2057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Swap pieces underneath, one at a time, behind the same interface.</a:t>
            </a:r>
            <a:endParaRPr lang="en-US" sz="1200" dirty="0"/>
          </a:p>
        </p:txBody>
      </p:sp>
      <p:sp>
        <p:nvSpPr>
          <p:cNvPr id="16" name="Shape 14"/>
          <p:cNvSpPr/>
          <p:nvPr/>
        </p:nvSpPr>
        <p:spPr>
          <a:xfrm>
            <a:off x="8759952" y="1874520"/>
            <a:ext cx="2487168" cy="685800"/>
          </a:xfrm>
          <a:prstGeom prst="rect">
            <a:avLst/>
          </a:prstGeom>
          <a:solidFill>
            <a:srgbClr val="00662C"/>
          </a:solidFill>
          <a:ln/>
        </p:spPr>
      </p:sp>
      <p:sp>
        <p:nvSpPr>
          <p:cNvPr id="17" name="Text 15"/>
          <p:cNvSpPr/>
          <p:nvPr/>
        </p:nvSpPr>
        <p:spPr>
          <a:xfrm>
            <a:off x="8897112" y="1874520"/>
            <a:ext cx="2212848" cy="685800"/>
          </a:xfrm>
          <a:prstGeom prst="rect">
            <a:avLst/>
          </a:prstGeom>
          <a:noFill/>
          <a:ln/>
        </p:spPr>
        <p:txBody>
          <a:bodyPr wrap="square" lIns="0" tIns="0" rIns="0" bIns="0" rtlCol="0" anchor="ctr"/>
          <a:lstStyle/>
          <a:p>
            <a:pPr marL="0" indent="0" algn="l">
              <a:buNone/>
            </a:pPr>
            <a:r>
              <a:rPr lang="en-US" sz="1400" b="1" dirty="0">
                <a:solidFill>
                  <a:srgbClr val="FFFFFF"/>
                </a:solidFill>
                <a:latin typeface="Roboto" pitchFamily="34" charset="0"/>
                <a:ea typeface="Roboto" pitchFamily="34" charset="-122"/>
                <a:cs typeface="Roboto" pitchFamily="34" charset="-120"/>
              </a:rPr>
              <a:t>4. Land on the new backend</a:t>
            </a:r>
            <a:endParaRPr lang="en-US" sz="1400" dirty="0"/>
          </a:p>
        </p:txBody>
      </p:sp>
      <p:sp>
        <p:nvSpPr>
          <p:cNvPr id="18" name="Shape 16"/>
          <p:cNvSpPr/>
          <p:nvPr/>
        </p:nvSpPr>
        <p:spPr>
          <a:xfrm>
            <a:off x="8759952" y="2560320"/>
            <a:ext cx="2487168" cy="2331720"/>
          </a:xfrm>
          <a:prstGeom prst="rect">
            <a:avLst/>
          </a:prstGeom>
          <a:solidFill>
            <a:srgbClr val="F4F6F4"/>
          </a:solidFill>
          <a:ln w="12700">
            <a:solidFill>
              <a:srgbClr val="DBDCDB"/>
            </a:solidFill>
            <a:prstDash val="solid"/>
          </a:ln>
        </p:spPr>
      </p:sp>
      <p:sp>
        <p:nvSpPr>
          <p:cNvPr id="19" name="Text 17"/>
          <p:cNvSpPr/>
          <p:nvPr/>
        </p:nvSpPr>
        <p:spPr>
          <a:xfrm>
            <a:off x="8942832" y="2743200"/>
            <a:ext cx="2121408" cy="2057400"/>
          </a:xfrm>
          <a:prstGeom prst="rect">
            <a:avLst/>
          </a:prstGeom>
          <a:noFill/>
          <a:ln/>
        </p:spPr>
        <p:txBody>
          <a:bodyPr wrap="square" lIns="0" tIns="0" rIns="0" bIns="0" rtlCol="0" anchor="t"/>
          <a:lstStyle/>
          <a:p>
            <a:pPr marL="0" indent="0" algn="l">
              <a:buNone/>
            </a:pPr>
            <a:r>
              <a:rPr lang="en-US" sz="1200" dirty="0">
                <a:solidFill>
                  <a:srgbClr val="373A36"/>
                </a:solidFill>
                <a:latin typeface="Roboto" pitchFamily="34" charset="0"/>
                <a:ea typeface="Roboto" pitchFamily="34" charset="-122"/>
                <a:cs typeface="Roboto" pitchFamily="34" charset="-120"/>
              </a:rPr>
              <a:t>An Arrow-native implementation becomes just another backend. No algorithm has to change to get there.</a:t>
            </a:r>
            <a:endParaRPr lang="en-US" sz="1200" dirty="0"/>
          </a:p>
        </p:txBody>
      </p:sp>
      <p:sp>
        <p:nvSpPr>
          <p:cNvPr id="20" name="Text 18"/>
          <p:cNvSpPr/>
          <p:nvPr/>
        </p:nvSpPr>
        <p:spPr>
          <a:xfrm>
            <a:off x="640080" y="5166360"/>
            <a:ext cx="10881360" cy="411480"/>
          </a:xfrm>
          <a:prstGeom prst="rect">
            <a:avLst/>
          </a:prstGeom>
          <a:noFill/>
          <a:ln/>
        </p:spPr>
        <p:txBody>
          <a:bodyPr wrap="square" lIns="0" tIns="0" rIns="0" bIns="0" rtlCol="0" anchor="ctr"/>
          <a:lstStyle/>
          <a:p>
            <a:pPr marL="0" indent="0" algn="l">
              <a:buNone/>
            </a:pPr>
            <a:r>
              <a:rPr lang="en-US" sz="1400" i="1" dirty="0">
                <a:solidFill>
                  <a:srgbClr val="373A36"/>
                </a:solidFill>
                <a:latin typeface="Roboto" pitchFamily="34" charset="0"/>
                <a:ea typeface="Roboto" pitchFamily="34" charset="-122"/>
                <a:cs typeface="Roboto" pitchFamily="34" charset="-120"/>
              </a:rPr>
              <a:t>Step 2 is where the next slide picks up.</a:t>
            </a:r>
            <a:endParaRPr lang="en-US" sz="1400" dirty="0"/>
          </a:p>
        </p:txBody>
      </p:sp>
      <p:pic>
        <p:nvPicPr>
          <p:cNvPr id="21" name="Image 0" descr="/home/claude/talk/assets/ornl_logo_green.png"/>
          <p:cNvPicPr>
            <a:picLocks noChangeAspect="1"/>
          </p:cNvPicPr>
          <p:nvPr/>
        </p:nvPicPr>
        <p:blipFill>
          <a:blip r:embed="rId3"/>
          <a:stretch>
            <a:fillRect/>
          </a:stretch>
        </p:blipFill>
        <p:spPr>
          <a:xfrm>
            <a:off x="457200" y="6473952"/>
            <a:ext cx="1188720" cy="285768"/>
          </a:xfrm>
          <a:prstGeom prst="rect">
            <a:avLst/>
          </a:prstGeom>
        </p:spPr>
      </p:pic>
      <p:sp>
        <p:nvSpPr>
          <p:cNvPr id="22" name="Text 19"/>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00454D"/>
                </a:solidFill>
                <a:latin typeface="Roboto" pitchFamily="34" charset="0"/>
                <a:ea typeface="Roboto" pitchFamily="34" charset="-122"/>
                <a:cs typeface="Robot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1051560"/>
          </a:xfrm>
          <a:prstGeom prst="rect">
            <a:avLst/>
          </a:prstGeom>
          <a:noFill/>
          <a:ln/>
        </p:spPr>
        <p:txBody>
          <a:bodyPr wrap="square" lIns="0" tIns="0" rIns="0" bIns="0" rtlCol="0" anchor="ctr"/>
          <a:lstStyle/>
          <a:p>
            <a:pPr marL="0" indent="0" algn="l">
              <a:buNone/>
            </a:pPr>
            <a:r>
              <a:rPr lang="en-US" sz="3200" b="1" dirty="0">
                <a:solidFill>
                  <a:srgbClr val="373A36"/>
                </a:solidFill>
                <a:latin typeface="Roboto Black" pitchFamily="34" charset="0"/>
                <a:ea typeface="Roboto Black" pitchFamily="34" charset="-122"/>
                <a:cs typeface="Roboto Black" pitchFamily="34" charset="-120"/>
              </a:rPr>
              <a:t>The pieces for step two exist, but aren't chained together yet</a:t>
            </a:r>
            <a:endParaRPr lang="en-US" sz="3200" dirty="0"/>
          </a:p>
        </p:txBody>
      </p:sp>
      <p:sp>
        <p:nvSpPr>
          <p:cNvPr id="3" name="Shape 1"/>
          <p:cNvSpPr/>
          <p:nvPr/>
        </p:nvSpPr>
        <p:spPr>
          <a:xfrm>
            <a:off x="640080" y="1554480"/>
            <a:ext cx="10881360" cy="1371600"/>
          </a:xfrm>
          <a:prstGeom prst="rect">
            <a:avLst/>
          </a:prstGeom>
          <a:solidFill>
            <a:srgbClr val="F4F6F4"/>
          </a:solidFill>
          <a:ln w="12700">
            <a:solidFill>
              <a:srgbClr val="DBDCDB"/>
            </a:solidFill>
            <a:prstDash val="solid"/>
          </a:ln>
        </p:spPr>
      </p:sp>
      <p:sp>
        <p:nvSpPr>
          <p:cNvPr id="4" name="Text 2"/>
          <p:cNvSpPr/>
          <p:nvPr/>
        </p:nvSpPr>
        <p:spPr>
          <a:xfrm>
            <a:off x="960120" y="1691640"/>
            <a:ext cx="10241280" cy="502920"/>
          </a:xfrm>
          <a:prstGeom prst="rect">
            <a:avLst/>
          </a:prstGeom>
          <a:noFill/>
          <a:ln/>
        </p:spPr>
        <p:txBody>
          <a:bodyPr wrap="square" lIns="0" tIns="0" rIns="0" bIns="0" rtlCol="0" anchor="ctr"/>
          <a:lstStyle/>
          <a:p>
            <a:pPr marL="0" indent="0" algn="l">
              <a:buNone/>
            </a:pPr>
            <a:r>
              <a:rPr lang="en-US" sz="1600" dirty="0">
                <a:solidFill>
                  <a:srgbClr val="373A36"/>
                </a:solidFill>
                <a:latin typeface="Roboto" pitchFamily="34" charset="0"/>
                <a:ea typeface="Roboto" pitchFamily="34" charset="-122"/>
                <a:cs typeface="Roboto" pitchFamily="34" charset="-120"/>
              </a:rPr>
              <a:t>Vendored, unmodified </a:t>
            </a:r>
            <a:r>
              <a:rPr lang="en-US" sz="1600" b="1" dirty="0">
                <a:solidFill>
                  <a:srgbClr val="00662C"/>
                </a:solidFill>
                <a:latin typeface="Courier New" pitchFamily="34" charset="0"/>
                <a:ea typeface="Courier New" pitchFamily="34" charset="-122"/>
                <a:cs typeface="Courier New" pitchFamily="34" charset="-120"/>
              </a:rPr>
              <a:t>Mantid::HistogramData::Histogram</a:t>
            </a:r>
            <a:r>
              <a:rPr lang="en-US" sz="1600" dirty="0">
                <a:solidFill>
                  <a:srgbClr val="373A36"/>
                </a:solidFill>
                <a:latin typeface="Roboto" pitchFamily="34" charset="0"/>
                <a:ea typeface="Roboto" pitchFamily="34" charset="-122"/>
                <a:cs typeface="Roboto" pitchFamily="34" charset="-120"/>
              </a:rPr>
              <a:t> from mantidproject/mantid.</a:t>
            </a:r>
            <a:endParaRPr lang="en-US" sz="1600" dirty="0"/>
          </a:p>
        </p:txBody>
      </p:sp>
      <p:sp>
        <p:nvSpPr>
          <p:cNvPr id="5" name="Text 3"/>
          <p:cNvSpPr/>
          <p:nvPr/>
        </p:nvSpPr>
        <p:spPr>
          <a:xfrm>
            <a:off x="960120" y="2176272"/>
            <a:ext cx="10241280" cy="685800"/>
          </a:xfrm>
          <a:prstGeom prst="rect">
            <a:avLst/>
          </a:prstGeom>
          <a:noFill/>
          <a:ln/>
        </p:spPr>
        <p:txBody>
          <a:bodyPr wrap="square" lIns="0" tIns="0" rIns="0" bIns="0" rtlCol="0" anchor="t"/>
          <a:lstStyle/>
          <a:p>
            <a:pPr marL="0" indent="0" algn="l">
              <a:buNone/>
            </a:pPr>
            <a:r>
              <a:rPr lang="en-US" sz="1300" dirty="0">
                <a:solidFill>
                  <a:srgbClr val="373A36"/>
                </a:solidFill>
                <a:latin typeface="Roboto" pitchFamily="34" charset="0"/>
                <a:ea typeface="Roboto" pitchFamily="34" charset="-122"/>
                <a:cs typeface="Roboto" pitchFamily="34" charset="-120"/>
              </a:rPr>
              <a:t>Compiled and linked it directly against ScaleWorkspace. Chaining it through separate conda packages, mantid-abi to mantid-histogram to this catalog, is the next concrete task.</a:t>
            </a:r>
            <a:endParaRPr lang="en-US" sz="1300" dirty="0"/>
          </a:p>
        </p:txBody>
      </p:sp>
      <p:sp>
        <p:nvSpPr>
          <p:cNvPr id="6" name="Shape 4"/>
          <p:cNvSpPr/>
          <p:nvPr/>
        </p:nvSpPr>
        <p:spPr>
          <a:xfrm>
            <a:off x="4480560" y="3154680"/>
            <a:ext cx="3200400" cy="548640"/>
          </a:xfrm>
          <a:prstGeom prst="rect">
            <a:avLst/>
          </a:prstGeom>
          <a:solidFill>
            <a:srgbClr val="373A36"/>
          </a:solidFill>
          <a:ln/>
        </p:spPr>
      </p:sp>
      <p:sp>
        <p:nvSpPr>
          <p:cNvPr id="7" name="Text 5"/>
          <p:cNvSpPr/>
          <p:nvPr/>
        </p:nvSpPr>
        <p:spPr>
          <a:xfrm>
            <a:off x="4480560" y="3154680"/>
            <a:ext cx="32004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ScaleWorkspace  (unchanged)</a:t>
            </a:r>
            <a:endParaRPr lang="en-US" sz="1300" dirty="0"/>
          </a:p>
        </p:txBody>
      </p:sp>
      <p:sp>
        <p:nvSpPr>
          <p:cNvPr id="8" name="Shape 6"/>
          <p:cNvSpPr/>
          <p:nvPr/>
        </p:nvSpPr>
        <p:spPr>
          <a:xfrm>
            <a:off x="6080760" y="3703320"/>
            <a:ext cx="0" cy="320040"/>
          </a:xfrm>
          <a:prstGeom prst="line">
            <a:avLst/>
          </a:prstGeom>
          <a:noFill/>
          <a:ln w="19050">
            <a:solidFill>
              <a:srgbClr val="DBDCDB"/>
            </a:solidFill>
            <a:prstDash val="solid"/>
          </a:ln>
        </p:spPr>
      </p:sp>
      <p:sp>
        <p:nvSpPr>
          <p:cNvPr id="9" name="Text 7"/>
          <p:cNvSpPr/>
          <p:nvPr/>
        </p:nvSpPr>
        <p:spPr>
          <a:xfrm>
            <a:off x="4937760" y="4059936"/>
            <a:ext cx="2286000" cy="274320"/>
          </a:xfrm>
          <a:prstGeom prst="rect">
            <a:avLst/>
          </a:prstGeom>
          <a:noFill/>
          <a:ln/>
        </p:spPr>
        <p:txBody>
          <a:bodyPr wrap="square" lIns="0" tIns="0" rIns="0" bIns="0" rtlCol="0" anchor="ctr"/>
          <a:lstStyle/>
          <a:p>
            <a:pPr marL="0" indent="0" algn="ctr">
              <a:buNone/>
            </a:pPr>
            <a:r>
              <a:rPr lang="en-US" sz="1100" i="1" dirty="0">
                <a:solidFill>
                  <a:srgbClr val="373A36"/>
                </a:solidFill>
                <a:latin typeface="Courier New" pitchFamily="34" charset="0"/>
                <a:ea typeface="Courier New" pitchFamily="34" charset="-122"/>
                <a:cs typeface="Courier New" pitchFamily="34" charset="-120"/>
              </a:rPr>
              <a:t>"WorkspaceCatalog"</a:t>
            </a:r>
            <a:endParaRPr lang="en-US" sz="1100" dirty="0"/>
          </a:p>
        </p:txBody>
      </p:sp>
      <p:sp>
        <p:nvSpPr>
          <p:cNvPr id="10" name="Shape 8"/>
          <p:cNvSpPr/>
          <p:nvPr/>
        </p:nvSpPr>
        <p:spPr>
          <a:xfrm>
            <a:off x="6080760" y="4370832"/>
            <a:ext cx="0" cy="365760"/>
          </a:xfrm>
          <a:prstGeom prst="line">
            <a:avLst/>
          </a:prstGeom>
          <a:noFill/>
          <a:ln w="19050">
            <a:solidFill>
              <a:srgbClr val="DBDCDB"/>
            </a:solidFill>
            <a:prstDash val="solid"/>
          </a:ln>
        </p:spPr>
      </p:sp>
      <p:sp>
        <p:nvSpPr>
          <p:cNvPr id="11" name="Shape 9"/>
          <p:cNvSpPr/>
          <p:nvPr/>
        </p:nvSpPr>
        <p:spPr>
          <a:xfrm>
            <a:off x="6080760" y="4370832"/>
            <a:ext cx="2651760" cy="365760"/>
          </a:xfrm>
          <a:prstGeom prst="line">
            <a:avLst/>
          </a:prstGeom>
          <a:noFill/>
          <a:ln w="19050">
            <a:solidFill>
              <a:srgbClr val="DBDCDB"/>
            </a:solidFill>
            <a:prstDash val="solid"/>
          </a:ln>
        </p:spPr>
      </p:sp>
      <p:sp>
        <p:nvSpPr>
          <p:cNvPr id="12" name="Shape 10"/>
          <p:cNvSpPr/>
          <p:nvPr/>
        </p:nvSpPr>
        <p:spPr>
          <a:xfrm>
            <a:off x="1371600" y="4754880"/>
            <a:ext cx="3108960" cy="731520"/>
          </a:xfrm>
          <a:prstGeom prst="rect">
            <a:avLst/>
          </a:prstGeom>
          <a:solidFill>
            <a:srgbClr val="00662C"/>
          </a:solidFill>
          <a:ln/>
        </p:spPr>
      </p:sp>
      <p:sp>
        <p:nvSpPr>
          <p:cNvPr id="13" name="Text 11"/>
          <p:cNvSpPr/>
          <p:nvPr/>
        </p:nvSpPr>
        <p:spPr>
          <a:xfrm>
            <a:off x="1371600" y="4754880"/>
            <a:ext cx="3108960" cy="731520"/>
          </a:xfrm>
          <a:prstGeom prst="rect">
            <a:avLst/>
          </a:prstGeom>
          <a:noFill/>
          <a:ln/>
        </p:spPr>
        <p:txBody>
          <a:bodyPr wrap="square" lIns="0" tIns="0" rIns="0" bIns="0" rtlCol="0" anchor="ctr"/>
          <a:lstStyle/>
          <a:p>
            <a:pPr marL="0" indent="0" algn="ctr">
              <a:buNone/>
            </a:pPr>
            <a:r>
              <a:rPr lang="en-US" sz="1300" b="1" dirty="0">
                <a:solidFill>
                  <a:srgbClr val="FFFFFF"/>
                </a:solidFill>
                <a:latin typeface="Roboto" pitchFamily="34" charset="0"/>
                <a:ea typeface="Roboto" pitchFamily="34" charset="-122"/>
                <a:cs typeface="Roboto" pitchFamily="34" charset="-120"/>
              </a:rPr>
              <a:t>Step 2</a:t>
            </a:r>
            <a:endParaRPr lang="en-US" sz="1300" dirty="0"/>
          </a:p>
          <a:p>
            <a:pPr marL="0" indent="0" algn="ctr">
              <a:buNone/>
            </a:pPr>
            <a:r>
              <a:rPr lang="en-US" sz="1300" b="1" dirty="0">
                <a:solidFill>
                  <a:srgbClr val="FFFFFF"/>
                </a:solidFill>
                <a:latin typeface="Roboto" pitchFamily="34" charset="0"/>
                <a:ea typeface="Roboto" pitchFamily="34" charset="-122"/>
                <a:cs typeface="Roboto" pitchFamily="34" charset="-120"/>
              </a:rPr>
              <a:t>Real Mantid Histogram</a:t>
            </a:r>
            <a:endParaRPr lang="en-US" sz="1300" dirty="0"/>
          </a:p>
        </p:txBody>
      </p:sp>
      <p:sp>
        <p:nvSpPr>
          <p:cNvPr id="14" name="Shape 12"/>
          <p:cNvSpPr/>
          <p:nvPr/>
        </p:nvSpPr>
        <p:spPr>
          <a:xfrm>
            <a:off x="7498080" y="4754880"/>
            <a:ext cx="3291840" cy="731520"/>
          </a:xfrm>
          <a:prstGeom prst="rect">
            <a:avLst/>
          </a:prstGeom>
          <a:solidFill>
            <a:srgbClr val="F4F6F4"/>
          </a:solidFill>
          <a:ln w="12700">
            <a:solidFill>
              <a:srgbClr val="DBDCDB"/>
            </a:solidFill>
            <a:prstDash val="solid"/>
          </a:ln>
        </p:spPr>
      </p:sp>
      <p:sp>
        <p:nvSpPr>
          <p:cNvPr id="15" name="Text 13"/>
          <p:cNvSpPr/>
          <p:nvPr/>
        </p:nvSpPr>
        <p:spPr>
          <a:xfrm>
            <a:off x="7498080" y="4754880"/>
            <a:ext cx="3291840" cy="731520"/>
          </a:xfrm>
          <a:prstGeom prst="rect">
            <a:avLst/>
          </a:prstGeom>
          <a:noFill/>
          <a:ln/>
        </p:spPr>
        <p:txBody>
          <a:bodyPr wrap="square" lIns="0" tIns="0" rIns="0" bIns="0" rtlCol="0" anchor="ctr"/>
          <a:lstStyle/>
          <a:p>
            <a:pPr marL="0" indent="0" algn="ctr">
              <a:buNone/>
            </a:pPr>
            <a:r>
              <a:rPr lang="en-US" sz="1300" dirty="0">
                <a:solidFill>
                  <a:srgbClr val="373A36"/>
                </a:solidFill>
                <a:latin typeface="Roboto" pitchFamily="34" charset="0"/>
                <a:ea typeface="Roboto" pitchFamily="34" charset="-122"/>
                <a:cs typeface="Roboto" pitchFamily="34" charset="-120"/>
              </a:rPr>
              <a:t>Step 4</a:t>
            </a:r>
            <a:endParaRPr lang="en-US" sz="1300" dirty="0"/>
          </a:p>
          <a:p>
            <a:pPr marL="0" indent="0" algn="ctr">
              <a:buNone/>
            </a:pPr>
            <a:r>
              <a:rPr lang="en-US" sz="1300" dirty="0">
                <a:solidFill>
                  <a:srgbClr val="373A36"/>
                </a:solidFill>
                <a:latin typeface="Roboto" pitchFamily="34" charset="0"/>
                <a:ea typeface="Roboto" pitchFamily="34" charset="-122"/>
                <a:cs typeface="Roboto" pitchFamily="34" charset="-120"/>
              </a:rPr>
              <a:t>Arrow-native (already built too)</a:t>
            </a:r>
            <a:endParaRPr lang="en-US" sz="1300" dirty="0"/>
          </a:p>
        </p:txBody>
      </p:sp>
      <p:sp>
        <p:nvSpPr>
          <p:cNvPr id="16" name="Text 14"/>
          <p:cNvSpPr/>
          <p:nvPr/>
        </p:nvSpPr>
        <p:spPr>
          <a:xfrm>
            <a:off x="640080" y="5669280"/>
            <a:ext cx="10881360" cy="548640"/>
          </a:xfrm>
          <a:prstGeom prst="rect">
            <a:avLst/>
          </a:prstGeom>
          <a:noFill/>
          <a:ln/>
        </p:spPr>
        <p:txBody>
          <a:bodyPr wrap="square" lIns="0" tIns="0" rIns="0" bIns="0" rtlCol="0" anchor="t"/>
          <a:lstStyle/>
          <a:p>
            <a:pPr marL="0" indent="0" algn="l">
              <a:buNone/>
            </a:pPr>
            <a:r>
              <a:rPr lang="en-US" sz="1400" i="1" dirty="0">
                <a:solidFill>
                  <a:srgbClr val="373A36"/>
                </a:solidFill>
                <a:latin typeface="Roboto" pitchFamily="34" charset="0"/>
                <a:ea typeface="Roboto" pitchFamily="34" charset="-122"/>
                <a:cs typeface="Roboto" pitchFamily="34" charset="-120"/>
              </a:rPr>
              <a:t>Both endpoints compile and run today, on their own. Chaining them together as conda packages, and step 3 in between, are both still ahead.</a:t>
            </a:r>
            <a:endParaRPr lang="en-US" sz="1400" dirty="0"/>
          </a:p>
        </p:txBody>
      </p:sp>
      <p:pic>
        <p:nvPicPr>
          <p:cNvPr id="17" name="Image 0" descr="/home/claude/talk/assets/ornl_logo_green.png"/>
          <p:cNvPicPr>
            <a:picLocks noChangeAspect="1"/>
          </p:cNvPicPr>
          <p:nvPr/>
        </p:nvPicPr>
        <p:blipFill>
          <a:blip r:embed="rId3"/>
          <a:stretch>
            <a:fillRect/>
          </a:stretch>
        </p:blipFill>
        <p:spPr>
          <a:xfrm>
            <a:off x="457200" y="6473952"/>
            <a:ext cx="1188720" cy="285768"/>
          </a:xfrm>
          <a:prstGeom prst="rect">
            <a:avLst/>
          </a:prstGeom>
        </p:spPr>
      </p:pic>
      <p:sp>
        <p:nvSpPr>
          <p:cNvPr id="18" name="Text 15"/>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00454D"/>
                </a:solidFill>
                <a:latin typeface="Roboto" pitchFamily="34" charset="0"/>
                <a:ea typeface="Roboto" pitchFamily="34" charset="-122"/>
                <a:cs typeface="Roboto" pitchFamily="34" charset="-120"/>
              </a:rPr>
              <a:t>8</a:t>
            </a:r>
            <a:endParaRPr lang="en-US" sz="900" dirty="0"/>
          </a:p>
        </p:txBody>
      </p:sp>
      <p:sp>
        <p:nvSpPr>
          <p:cNvPr id="19" name="Shape 9">
            <a:extLst>
              <a:ext uri="{FF2B5EF4-FFF2-40B4-BE49-F238E27FC236}">
                <a16:creationId xmlns:a16="http://schemas.microsoft.com/office/drawing/2014/main" id="{F9D762DD-B489-C504-99C7-A07FEF1839AE}"/>
              </a:ext>
            </a:extLst>
          </p:cNvPr>
          <p:cNvSpPr/>
          <p:nvPr/>
        </p:nvSpPr>
        <p:spPr>
          <a:xfrm flipV="1">
            <a:off x="3423285" y="4374642"/>
            <a:ext cx="2642235" cy="320040"/>
          </a:xfrm>
          <a:prstGeom prst="line">
            <a:avLst/>
          </a:prstGeom>
          <a:noFill/>
          <a:ln w="19050">
            <a:solidFill>
              <a:srgbClr val="DBDCDB"/>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1051560"/>
          </a:xfrm>
          <a:prstGeom prst="rect">
            <a:avLst/>
          </a:prstGeom>
          <a:noFill/>
          <a:ln/>
        </p:spPr>
        <p:txBody>
          <a:bodyPr wrap="square" lIns="0" tIns="0" rIns="0" bIns="0" rtlCol="0" anchor="ctr"/>
          <a:lstStyle/>
          <a:p>
            <a:pPr marL="0" indent="0" algn="l">
              <a:buNone/>
            </a:pPr>
            <a:r>
              <a:rPr lang="en-US" sz="3200" b="1" dirty="0">
                <a:solidFill>
                  <a:srgbClr val="373A36"/>
                </a:solidFill>
                <a:latin typeface="Roboto Black" pitchFamily="34" charset="0"/>
                <a:ea typeface="Roboto Black" pitchFamily="34" charset="-122"/>
                <a:cs typeface="Roboto Black" pitchFamily="34" charset="-120"/>
              </a:rPr>
              <a:t>Four real gaps still stand between this design and a working system</a:t>
            </a:r>
            <a:endParaRPr lang="en-US" sz="3200" dirty="0"/>
          </a:p>
        </p:txBody>
      </p:sp>
      <p:sp>
        <p:nvSpPr>
          <p:cNvPr id="3" name="Shape 1"/>
          <p:cNvSpPr/>
          <p:nvPr/>
        </p:nvSpPr>
        <p:spPr>
          <a:xfrm>
            <a:off x="640080" y="1554480"/>
            <a:ext cx="2487168" cy="685800"/>
          </a:xfrm>
          <a:prstGeom prst="rect">
            <a:avLst/>
          </a:prstGeom>
          <a:solidFill>
            <a:srgbClr val="00662C"/>
          </a:solidFill>
          <a:ln/>
        </p:spPr>
      </p:sp>
      <p:sp>
        <p:nvSpPr>
          <p:cNvPr id="4" name="Text 2"/>
          <p:cNvSpPr/>
          <p:nvPr/>
        </p:nvSpPr>
        <p:spPr>
          <a:xfrm>
            <a:off x="777240" y="1554480"/>
            <a:ext cx="2212848" cy="685800"/>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MatrixWorkspace</a:t>
            </a:r>
            <a:endParaRPr lang="en-US" sz="1300" dirty="0"/>
          </a:p>
        </p:txBody>
      </p:sp>
      <p:sp>
        <p:nvSpPr>
          <p:cNvPr id="5" name="Shape 3"/>
          <p:cNvSpPr/>
          <p:nvPr/>
        </p:nvSpPr>
        <p:spPr>
          <a:xfrm>
            <a:off x="640080" y="2240280"/>
            <a:ext cx="2487168" cy="3474720"/>
          </a:xfrm>
          <a:prstGeom prst="rect">
            <a:avLst/>
          </a:prstGeom>
          <a:solidFill>
            <a:srgbClr val="F4F6F4"/>
          </a:solidFill>
          <a:ln w="12700">
            <a:solidFill>
              <a:srgbClr val="DBDCDB"/>
            </a:solidFill>
            <a:prstDash val="solid"/>
          </a:ln>
        </p:spPr>
      </p:sp>
      <p:sp>
        <p:nvSpPr>
          <p:cNvPr id="6" name="Text 4"/>
          <p:cNvSpPr/>
          <p:nvPr/>
        </p:nvSpPr>
        <p:spPr>
          <a:xfrm>
            <a:off x="822960" y="2423160"/>
            <a:ext cx="2121408" cy="3200400"/>
          </a:xfrm>
          <a:prstGeom prst="rect">
            <a:avLst/>
          </a:prstGeom>
          <a:noFill/>
          <a:ln/>
        </p:spPr>
        <p:txBody>
          <a:bodyPr wrap="square" lIns="0" tIns="0" rIns="0" bIns="0" rtlCol="0" anchor="t"/>
          <a:lstStyle/>
          <a:p>
            <a:pPr marL="0" indent="0" algn="l">
              <a:buNone/>
            </a:pPr>
            <a:r>
              <a:rPr lang="en-US" sz="1150" dirty="0">
                <a:solidFill>
                  <a:srgbClr val="373A36"/>
                </a:solidFill>
                <a:latin typeface="Roboto" pitchFamily="34" charset="0"/>
                <a:ea typeface="Roboto" pitchFamily="34" charset="-122"/>
                <a:cs typeface="Roboto" pitchFamily="34" charset="-120"/>
              </a:rPr>
              <a:t>Instrument geometry, sample info, spectrum to detector mapping, all deeply cross-linked. Decoupling it from the rest of the system is the hard part.</a:t>
            </a:r>
            <a:endParaRPr lang="en-US" sz="1150" dirty="0"/>
          </a:p>
        </p:txBody>
      </p:sp>
      <p:sp>
        <p:nvSpPr>
          <p:cNvPr id="7" name="Shape 5"/>
          <p:cNvSpPr/>
          <p:nvPr/>
        </p:nvSpPr>
        <p:spPr>
          <a:xfrm>
            <a:off x="3346704" y="1554480"/>
            <a:ext cx="2487168" cy="685800"/>
          </a:xfrm>
          <a:prstGeom prst="rect">
            <a:avLst/>
          </a:prstGeom>
          <a:solidFill>
            <a:srgbClr val="00662C"/>
          </a:solidFill>
          <a:ln/>
        </p:spPr>
      </p:sp>
      <p:sp>
        <p:nvSpPr>
          <p:cNvPr id="8" name="Text 6"/>
          <p:cNvSpPr/>
          <p:nvPr/>
        </p:nvSpPr>
        <p:spPr>
          <a:xfrm>
            <a:off x="3483864" y="1554480"/>
            <a:ext cx="2212848" cy="685800"/>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Extension-point plugins</a:t>
            </a:r>
            <a:endParaRPr lang="en-US" sz="1300" dirty="0"/>
          </a:p>
        </p:txBody>
      </p:sp>
      <p:sp>
        <p:nvSpPr>
          <p:cNvPr id="9" name="Shape 7"/>
          <p:cNvSpPr/>
          <p:nvPr/>
        </p:nvSpPr>
        <p:spPr>
          <a:xfrm>
            <a:off x="3346704" y="2240280"/>
            <a:ext cx="2487168" cy="3474720"/>
          </a:xfrm>
          <a:prstGeom prst="rect">
            <a:avLst/>
          </a:prstGeom>
          <a:solidFill>
            <a:srgbClr val="F4F6F4"/>
          </a:solidFill>
          <a:ln w="12700">
            <a:solidFill>
              <a:srgbClr val="DBDCDB"/>
            </a:solidFill>
            <a:prstDash val="solid"/>
          </a:ln>
        </p:spPr>
      </p:sp>
      <p:sp>
        <p:nvSpPr>
          <p:cNvPr id="10" name="Text 8"/>
          <p:cNvSpPr/>
          <p:nvPr/>
        </p:nvSpPr>
        <p:spPr>
          <a:xfrm>
            <a:off x="3529584" y="2423160"/>
            <a:ext cx="2121408" cy="3200400"/>
          </a:xfrm>
          <a:prstGeom prst="rect">
            <a:avLst/>
          </a:prstGeom>
          <a:noFill/>
          <a:ln/>
        </p:spPr>
        <p:txBody>
          <a:bodyPr wrap="square" lIns="0" tIns="0" rIns="0" bIns="0" rtlCol="0" anchor="t"/>
          <a:lstStyle/>
          <a:p>
            <a:pPr marL="0" indent="0" algn="l">
              <a:buNone/>
            </a:pPr>
            <a:r>
              <a:rPr lang="en-US" sz="1150" dirty="0">
                <a:solidFill>
                  <a:srgbClr val="373A36"/>
                </a:solidFill>
                <a:latin typeface="Roboto" pitchFamily="34" charset="0"/>
                <a:ea typeface="Roboto" pitchFamily="34" charset="-122"/>
                <a:cs typeface="Roboto" pitchFamily="34" charset="-120"/>
              </a:rPr>
              <a:t>A pluggable library of fitting functions doesn't have to live inside our shared ABI, just behind a standard interface. Should it, for full language flexibility? Where's that line, and how does it scale?</a:t>
            </a:r>
            <a:endParaRPr lang="en-US" sz="1150" dirty="0"/>
          </a:p>
        </p:txBody>
      </p:sp>
      <p:sp>
        <p:nvSpPr>
          <p:cNvPr id="11" name="Shape 9"/>
          <p:cNvSpPr/>
          <p:nvPr/>
        </p:nvSpPr>
        <p:spPr>
          <a:xfrm>
            <a:off x="6053328" y="1554480"/>
            <a:ext cx="2487168" cy="685800"/>
          </a:xfrm>
          <a:prstGeom prst="rect">
            <a:avLst/>
          </a:prstGeom>
          <a:solidFill>
            <a:srgbClr val="00662C"/>
          </a:solidFill>
          <a:ln/>
        </p:spPr>
      </p:sp>
      <p:sp>
        <p:nvSpPr>
          <p:cNvPr id="12" name="Text 10"/>
          <p:cNvSpPr/>
          <p:nvPr/>
        </p:nvSpPr>
        <p:spPr>
          <a:xfrm>
            <a:off x="6190488" y="1554480"/>
            <a:ext cx="2212848" cy="685800"/>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Workflows</a:t>
            </a:r>
            <a:endParaRPr lang="en-US" sz="1300" dirty="0"/>
          </a:p>
        </p:txBody>
      </p:sp>
      <p:sp>
        <p:nvSpPr>
          <p:cNvPr id="13" name="Shape 11"/>
          <p:cNvSpPr/>
          <p:nvPr/>
        </p:nvSpPr>
        <p:spPr>
          <a:xfrm>
            <a:off x="6053328" y="2240280"/>
            <a:ext cx="2487168" cy="3474720"/>
          </a:xfrm>
          <a:prstGeom prst="rect">
            <a:avLst/>
          </a:prstGeom>
          <a:solidFill>
            <a:srgbClr val="F4F6F4"/>
          </a:solidFill>
          <a:ln w="12700">
            <a:solidFill>
              <a:srgbClr val="DBDCDB"/>
            </a:solidFill>
            <a:prstDash val="solid"/>
          </a:ln>
        </p:spPr>
      </p:sp>
      <p:sp>
        <p:nvSpPr>
          <p:cNvPr id="14" name="Text 12"/>
          <p:cNvSpPr/>
          <p:nvPr/>
        </p:nvSpPr>
        <p:spPr>
          <a:xfrm>
            <a:off x="6236208" y="2423160"/>
            <a:ext cx="2121408" cy="3200400"/>
          </a:xfrm>
          <a:prstGeom prst="rect">
            <a:avLst/>
          </a:prstGeom>
          <a:noFill/>
          <a:ln/>
        </p:spPr>
        <p:txBody>
          <a:bodyPr wrap="square" lIns="0" tIns="0" rIns="0" bIns="0" rtlCol="0" anchor="t"/>
          <a:lstStyle/>
          <a:p>
            <a:pPr marL="0" indent="0" algn="l">
              <a:buNone/>
            </a:pPr>
            <a:r>
              <a:rPr lang="en-US" sz="1150" dirty="0">
                <a:solidFill>
                  <a:srgbClr val="373A36"/>
                </a:solidFill>
                <a:latin typeface="Roboto" pitchFamily="34" charset="0"/>
                <a:ea typeface="Roboto" pitchFamily="34" charset="-122"/>
                <a:cs typeface="Roboto" pitchFamily="34" charset="-120"/>
              </a:rPr>
              <a:t>Workflows deserve their own explicit design, as a metaprocess distinct from algorithms themselves. That keeps the algorithm concept simple and purely functional.</a:t>
            </a:r>
            <a:endParaRPr lang="en-US" sz="1150" dirty="0"/>
          </a:p>
        </p:txBody>
      </p:sp>
      <p:sp>
        <p:nvSpPr>
          <p:cNvPr id="15" name="Shape 13"/>
          <p:cNvSpPr/>
          <p:nvPr/>
        </p:nvSpPr>
        <p:spPr>
          <a:xfrm>
            <a:off x="8759952" y="1554480"/>
            <a:ext cx="2487168" cy="685800"/>
          </a:xfrm>
          <a:prstGeom prst="rect">
            <a:avLst/>
          </a:prstGeom>
          <a:solidFill>
            <a:srgbClr val="00662C"/>
          </a:solidFill>
          <a:ln/>
        </p:spPr>
      </p:sp>
      <p:sp>
        <p:nvSpPr>
          <p:cNvPr id="16" name="Text 14"/>
          <p:cNvSpPr/>
          <p:nvPr/>
        </p:nvSpPr>
        <p:spPr>
          <a:xfrm>
            <a:off x="8897112" y="1554480"/>
            <a:ext cx="2212848" cy="685800"/>
          </a:xfrm>
          <a:prstGeom prst="rect">
            <a:avLst/>
          </a:prstGeom>
          <a:noFill/>
          <a:ln/>
        </p:spPr>
        <p:txBody>
          <a:bodyPr wrap="square" lIns="0" tIns="0" rIns="0" bIns="0" rtlCol="0" anchor="ctr"/>
          <a:lstStyle/>
          <a:p>
            <a:pPr marL="0" indent="0" algn="l">
              <a:buNone/>
            </a:pPr>
            <a:r>
              <a:rPr lang="en-US" sz="1300" b="1" dirty="0">
                <a:solidFill>
                  <a:srgbClr val="FFFFFF"/>
                </a:solidFill>
                <a:latin typeface="Roboto" pitchFamily="34" charset="0"/>
                <a:ea typeface="Roboto" pitchFamily="34" charset="-122"/>
                <a:cs typeface="Roboto" pitchFamily="34" charset="-120"/>
              </a:rPr>
              <a:t>Migration pacing</a:t>
            </a:r>
            <a:endParaRPr lang="en-US" sz="1300" dirty="0"/>
          </a:p>
        </p:txBody>
      </p:sp>
      <p:sp>
        <p:nvSpPr>
          <p:cNvPr id="17" name="Shape 15"/>
          <p:cNvSpPr/>
          <p:nvPr/>
        </p:nvSpPr>
        <p:spPr>
          <a:xfrm>
            <a:off x="8759952" y="2240280"/>
            <a:ext cx="2487168" cy="3474720"/>
          </a:xfrm>
          <a:prstGeom prst="rect">
            <a:avLst/>
          </a:prstGeom>
          <a:solidFill>
            <a:srgbClr val="F4F6F4"/>
          </a:solidFill>
          <a:ln w="12700">
            <a:solidFill>
              <a:srgbClr val="DBDCDB"/>
            </a:solidFill>
            <a:prstDash val="solid"/>
          </a:ln>
        </p:spPr>
      </p:sp>
      <p:sp>
        <p:nvSpPr>
          <p:cNvPr id="18" name="Text 16"/>
          <p:cNvSpPr/>
          <p:nvPr/>
        </p:nvSpPr>
        <p:spPr>
          <a:xfrm>
            <a:off x="8942832" y="2423160"/>
            <a:ext cx="2121408" cy="3200400"/>
          </a:xfrm>
          <a:prstGeom prst="rect">
            <a:avLst/>
          </a:prstGeom>
          <a:noFill/>
          <a:ln/>
        </p:spPr>
        <p:txBody>
          <a:bodyPr wrap="square" lIns="0" tIns="0" rIns="0" bIns="0" rtlCol="0" anchor="t"/>
          <a:lstStyle/>
          <a:p>
            <a:pPr marL="0" indent="0" algn="l">
              <a:buNone/>
            </a:pPr>
            <a:r>
              <a:rPr lang="en-US" sz="1150" dirty="0">
                <a:solidFill>
                  <a:srgbClr val="373A36"/>
                </a:solidFill>
                <a:latin typeface="Roboto" pitchFamily="34" charset="0"/>
                <a:ea typeface="Roboto" pitchFamily="34" charset="-122"/>
                <a:cs typeface="Roboto" pitchFamily="34" charset="-120"/>
              </a:rPr>
              <a:t>The instruments and techniques don't change, only the software underneath them does. How much of the existing codebase is worth migrating at once, and how fast is realistic without disrupting day to day operation?</a:t>
            </a:r>
            <a:endParaRPr lang="en-US" sz="1150" dirty="0"/>
          </a:p>
        </p:txBody>
      </p:sp>
      <p:pic>
        <p:nvPicPr>
          <p:cNvPr id="19" name="Image 0" descr="/home/claude/talk/assets/ornl_logo_green.png"/>
          <p:cNvPicPr>
            <a:picLocks noChangeAspect="1"/>
          </p:cNvPicPr>
          <p:nvPr/>
        </p:nvPicPr>
        <p:blipFill>
          <a:blip r:embed="rId3"/>
          <a:stretch>
            <a:fillRect/>
          </a:stretch>
        </p:blipFill>
        <p:spPr>
          <a:xfrm>
            <a:off x="457200" y="6473952"/>
            <a:ext cx="1188720" cy="285768"/>
          </a:xfrm>
          <a:prstGeom prst="rect">
            <a:avLst/>
          </a:prstGeom>
        </p:spPr>
      </p:pic>
      <p:sp>
        <p:nvSpPr>
          <p:cNvPr id="20" name="Text 17"/>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00454D"/>
                </a:solidFill>
                <a:latin typeface="Roboto" pitchFamily="34" charset="0"/>
                <a:ea typeface="Roboto" pitchFamily="34" charset="-122"/>
                <a:cs typeface="Roboto"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454D"/>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marL="0" indent="0" algn="l">
              <a:buNone/>
            </a:pPr>
            <a:r>
              <a:rPr lang="en-US" sz="3200" b="1" dirty="0">
                <a:solidFill>
                  <a:srgbClr val="FFFFFF"/>
                </a:solidFill>
                <a:latin typeface="Roboto Black" pitchFamily="34" charset="0"/>
                <a:ea typeface="Roboto Black" pitchFamily="34" charset="-122"/>
                <a:cs typeface="Roboto Black" pitchFamily="34" charset="-120"/>
              </a:rPr>
              <a:t>Questions for this room</a:t>
            </a:r>
            <a:endParaRPr lang="en-US" sz="3200" dirty="0"/>
          </a:p>
        </p:txBody>
      </p:sp>
      <p:sp>
        <p:nvSpPr>
          <p:cNvPr id="3" name="Shape 1"/>
          <p:cNvSpPr/>
          <p:nvPr/>
        </p:nvSpPr>
        <p:spPr>
          <a:xfrm>
            <a:off x="640080" y="1554480"/>
            <a:ext cx="548640" cy="548640"/>
          </a:xfrm>
          <a:prstGeom prst="ellipse">
            <a:avLst/>
          </a:prstGeom>
          <a:solidFill>
            <a:srgbClr val="00662C"/>
          </a:solidFill>
          <a:ln/>
        </p:spPr>
      </p:sp>
      <p:sp>
        <p:nvSpPr>
          <p:cNvPr id="4" name="Text 2"/>
          <p:cNvSpPr/>
          <p:nvPr/>
        </p:nvSpPr>
        <p:spPr>
          <a:xfrm>
            <a:off x="640080" y="1554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Roboto Black" pitchFamily="34" charset="0"/>
                <a:ea typeface="Roboto Black" pitchFamily="34" charset="-122"/>
                <a:cs typeface="Roboto Black" pitchFamily="34" charset="-120"/>
              </a:rPr>
              <a:t>1</a:t>
            </a:r>
            <a:endParaRPr lang="en-US" sz="2000" dirty="0"/>
          </a:p>
        </p:txBody>
      </p:sp>
      <p:sp>
        <p:nvSpPr>
          <p:cNvPr id="5" name="Text 3"/>
          <p:cNvSpPr/>
          <p:nvPr/>
        </p:nvSpPr>
        <p:spPr>
          <a:xfrm>
            <a:off x="1417320" y="1508760"/>
            <a:ext cx="9692640" cy="1188720"/>
          </a:xfrm>
          <a:prstGeom prst="rect">
            <a:avLst/>
          </a:prstGeom>
          <a:noFill/>
          <a:ln/>
        </p:spPr>
        <p:txBody>
          <a:bodyPr wrap="square" lIns="0" tIns="0" rIns="0" bIns="0" rtlCol="0" anchor="t"/>
          <a:lstStyle/>
          <a:p>
            <a:pPr marL="0" indent="0" algn="l">
              <a:buNone/>
            </a:pPr>
            <a:r>
              <a:rPr lang="en-US" sz="1600" dirty="0">
                <a:solidFill>
                  <a:srgbClr val="FFFFFF"/>
                </a:solidFill>
                <a:latin typeface="Roboto" pitchFamily="34" charset="0"/>
                <a:ea typeface="Roboto" pitchFamily="34" charset="-122"/>
                <a:cs typeface="Roboto" pitchFamily="34" charset="-120"/>
              </a:rPr>
              <a:t>If Core doesn't govern extensions, who decides which ones a facility should trust enough to run on real data?</a:t>
            </a:r>
            <a:endParaRPr lang="en-US" sz="1600" dirty="0"/>
          </a:p>
        </p:txBody>
      </p:sp>
      <p:sp>
        <p:nvSpPr>
          <p:cNvPr id="6" name="Shape 4"/>
          <p:cNvSpPr/>
          <p:nvPr/>
        </p:nvSpPr>
        <p:spPr>
          <a:xfrm>
            <a:off x="640080" y="2697480"/>
            <a:ext cx="548640" cy="548640"/>
          </a:xfrm>
          <a:prstGeom prst="ellipse">
            <a:avLst/>
          </a:prstGeom>
          <a:solidFill>
            <a:srgbClr val="00662C"/>
          </a:solidFill>
          <a:ln/>
        </p:spPr>
      </p:sp>
      <p:sp>
        <p:nvSpPr>
          <p:cNvPr id="7" name="Text 5"/>
          <p:cNvSpPr/>
          <p:nvPr/>
        </p:nvSpPr>
        <p:spPr>
          <a:xfrm>
            <a:off x="640080" y="2697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Roboto Black" pitchFamily="34" charset="0"/>
                <a:ea typeface="Roboto Black" pitchFamily="34" charset="-122"/>
                <a:cs typeface="Roboto Black" pitchFamily="34" charset="-120"/>
              </a:rPr>
              <a:t>2</a:t>
            </a:r>
            <a:endParaRPr lang="en-US" sz="2000" dirty="0"/>
          </a:p>
        </p:txBody>
      </p:sp>
      <p:sp>
        <p:nvSpPr>
          <p:cNvPr id="8" name="Text 6"/>
          <p:cNvSpPr/>
          <p:nvPr/>
        </p:nvSpPr>
        <p:spPr>
          <a:xfrm>
            <a:off x="1417320" y="2651760"/>
            <a:ext cx="9692640" cy="1188720"/>
          </a:xfrm>
          <a:prstGeom prst="rect">
            <a:avLst/>
          </a:prstGeom>
          <a:noFill/>
          <a:ln/>
        </p:spPr>
        <p:txBody>
          <a:bodyPr wrap="square" lIns="0" tIns="0" rIns="0" bIns="0" rtlCol="0" anchor="t"/>
          <a:lstStyle/>
          <a:p>
            <a:pPr marL="0" indent="0" algn="l">
              <a:buNone/>
            </a:pPr>
            <a:r>
              <a:rPr lang="en-US" sz="1600" dirty="0">
                <a:solidFill>
                  <a:srgbClr val="FFFFFF"/>
                </a:solidFill>
                <a:latin typeface="Roboto" pitchFamily="34" charset="0"/>
                <a:ea typeface="Roboto" pitchFamily="34" charset="-122"/>
                <a:cs typeface="Roboto" pitchFamily="34" charset="-120"/>
              </a:rPr>
              <a:t>Calibration files and normalization runs are a common case every site hits. What should exist out of the box, so good provenance there is standard, not something each site rebuilds on its own?</a:t>
            </a:r>
            <a:endParaRPr lang="en-US" sz="1600" dirty="0"/>
          </a:p>
        </p:txBody>
      </p:sp>
      <p:sp>
        <p:nvSpPr>
          <p:cNvPr id="9" name="Shape 7"/>
          <p:cNvSpPr/>
          <p:nvPr/>
        </p:nvSpPr>
        <p:spPr>
          <a:xfrm>
            <a:off x="640080" y="3840480"/>
            <a:ext cx="548640" cy="548640"/>
          </a:xfrm>
          <a:prstGeom prst="ellipse">
            <a:avLst/>
          </a:prstGeom>
          <a:solidFill>
            <a:srgbClr val="00662C"/>
          </a:solidFill>
          <a:ln/>
        </p:spPr>
      </p:sp>
      <p:sp>
        <p:nvSpPr>
          <p:cNvPr id="10" name="Text 8"/>
          <p:cNvSpPr/>
          <p:nvPr/>
        </p:nvSpPr>
        <p:spPr>
          <a:xfrm>
            <a:off x="640080" y="3840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Roboto Black" pitchFamily="34" charset="0"/>
                <a:ea typeface="Roboto Black" pitchFamily="34" charset="-122"/>
                <a:cs typeface="Roboto Black" pitchFamily="34" charset="-120"/>
              </a:rPr>
              <a:t>3</a:t>
            </a:r>
            <a:endParaRPr lang="en-US" sz="2000" dirty="0"/>
          </a:p>
        </p:txBody>
      </p:sp>
      <p:sp>
        <p:nvSpPr>
          <p:cNvPr id="11" name="Text 9"/>
          <p:cNvSpPr/>
          <p:nvPr/>
        </p:nvSpPr>
        <p:spPr>
          <a:xfrm>
            <a:off x="1417320" y="3794760"/>
            <a:ext cx="9692640" cy="1188720"/>
          </a:xfrm>
          <a:prstGeom prst="rect">
            <a:avLst/>
          </a:prstGeom>
          <a:noFill/>
          <a:ln/>
        </p:spPr>
        <p:txBody>
          <a:bodyPr wrap="square" lIns="0" tIns="0" rIns="0" bIns="0" rtlCol="0" anchor="t"/>
          <a:lstStyle/>
          <a:p>
            <a:pPr marL="0" indent="0" algn="l">
              <a:buNone/>
            </a:pPr>
            <a:r>
              <a:rPr lang="en-US" sz="1600" dirty="0">
                <a:solidFill>
                  <a:srgbClr val="FFFFFF"/>
                </a:solidFill>
                <a:latin typeface="Roboto" pitchFamily="34" charset="0"/>
                <a:ea typeface="Roboto" pitchFamily="34" charset="-122"/>
                <a:cs typeface="Roboto" pitchFamily="34" charset="-120"/>
              </a:rPr>
              <a:t>What earns an algorithm a place in Core rather than living as an extension, and does that same answer tell us what migrates first?</a:t>
            </a:r>
            <a:endParaRPr lang="en-US" sz="1600" dirty="0"/>
          </a:p>
        </p:txBody>
      </p:sp>
      <p:sp>
        <p:nvSpPr>
          <p:cNvPr id="12" name="Shape 10"/>
          <p:cNvSpPr/>
          <p:nvPr/>
        </p:nvSpPr>
        <p:spPr>
          <a:xfrm>
            <a:off x="640080" y="4983480"/>
            <a:ext cx="548640" cy="548640"/>
          </a:xfrm>
          <a:prstGeom prst="ellipse">
            <a:avLst/>
          </a:prstGeom>
          <a:solidFill>
            <a:srgbClr val="00662C"/>
          </a:solidFill>
          <a:ln/>
        </p:spPr>
      </p:sp>
      <p:sp>
        <p:nvSpPr>
          <p:cNvPr id="13" name="Text 11"/>
          <p:cNvSpPr/>
          <p:nvPr/>
        </p:nvSpPr>
        <p:spPr>
          <a:xfrm>
            <a:off x="640080" y="49834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Roboto Black" pitchFamily="34" charset="0"/>
                <a:ea typeface="Roboto Black" pitchFamily="34" charset="-122"/>
                <a:cs typeface="Roboto Black" pitchFamily="34" charset="-120"/>
              </a:rPr>
              <a:t>4</a:t>
            </a:r>
            <a:endParaRPr lang="en-US" sz="2000" dirty="0"/>
          </a:p>
        </p:txBody>
      </p:sp>
      <p:sp>
        <p:nvSpPr>
          <p:cNvPr id="14" name="Text 12"/>
          <p:cNvSpPr/>
          <p:nvPr/>
        </p:nvSpPr>
        <p:spPr>
          <a:xfrm>
            <a:off x="1417320" y="4937760"/>
            <a:ext cx="9692640" cy="1188720"/>
          </a:xfrm>
          <a:prstGeom prst="rect">
            <a:avLst/>
          </a:prstGeom>
          <a:noFill/>
          <a:ln/>
        </p:spPr>
        <p:txBody>
          <a:bodyPr wrap="square" lIns="0" tIns="0" rIns="0" bIns="0" rtlCol="0" anchor="t"/>
          <a:lstStyle/>
          <a:p>
            <a:pPr marL="0" indent="0" algn="l">
              <a:buNone/>
            </a:pPr>
            <a:r>
              <a:rPr lang="en-US" sz="1600" dirty="0">
                <a:solidFill>
                  <a:srgbClr val="FFFFFF"/>
                </a:solidFill>
                <a:latin typeface="Roboto" pitchFamily="34" charset="0"/>
                <a:ea typeface="Roboto" pitchFamily="34" charset="-122"/>
                <a:cs typeface="Roboto" pitchFamily="34" charset="-120"/>
              </a:rPr>
              <a:t>What other parts of Mantid would need decoupling before this works, and what has this whole approach missed?</a:t>
            </a:r>
            <a:endParaRPr lang="en-US" sz="1600" dirty="0"/>
          </a:p>
        </p:txBody>
      </p:sp>
      <p:pic>
        <p:nvPicPr>
          <p:cNvPr id="15" name="Image 0" descr="/home/claude/talk/assets/ornl_logo_white.png"/>
          <p:cNvPicPr>
            <a:picLocks noChangeAspect="1"/>
          </p:cNvPicPr>
          <p:nvPr/>
        </p:nvPicPr>
        <p:blipFill>
          <a:blip r:embed="rId3"/>
          <a:stretch>
            <a:fillRect/>
          </a:stretch>
        </p:blipFill>
        <p:spPr>
          <a:xfrm>
            <a:off x="457200" y="6473952"/>
            <a:ext cx="1188720" cy="285768"/>
          </a:xfrm>
          <a:prstGeom prst="rect">
            <a:avLst/>
          </a:prstGeom>
        </p:spPr>
      </p:pic>
      <p:sp>
        <p:nvSpPr>
          <p:cNvPr id="16" name="Text 13"/>
          <p:cNvSpPr/>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C8DCCC"/>
                </a:solidFill>
                <a:latin typeface="Roboto" pitchFamily="34" charset="0"/>
                <a:ea typeface="Roboto" pitchFamily="34" charset="-122"/>
                <a:cs typeface="Roboto" pitchFamily="34" charset="-120"/>
              </a:rPr>
              <a:t>10</a:t>
            </a:r>
            <a:endParaRPr lang="en-US" sz="900" dirty="0"/>
          </a:p>
        </p:txBody>
      </p:sp>
      <p:sp>
        <p:nvSpPr>
          <p:cNvPr id="17" name="TextBox 16">
            <a:extLst>
              <a:ext uri="{FF2B5EF4-FFF2-40B4-BE49-F238E27FC236}">
                <a16:creationId xmlns:a16="http://schemas.microsoft.com/office/drawing/2014/main" id="{78908497-2C02-C828-4294-AE58A355B030}"/>
              </a:ext>
            </a:extLst>
          </p:cNvPr>
          <p:cNvSpPr txBox="1"/>
          <p:nvPr/>
        </p:nvSpPr>
        <p:spPr>
          <a:xfrm>
            <a:off x="2867439" y="6513443"/>
            <a:ext cx="6460434"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dirty="0">
                <a:solidFill>
                  <a:schemeClr val="bg1"/>
                </a:solidFill>
                <a:latin typeface="Roboto"/>
                <a:ea typeface="Roboto"/>
                <a:cs typeface="Roboto"/>
              </a:rPr>
              <a:t>Funding for this research was provided by the US Department of Energy, Office of Science (contract No. DE-AC05- 00OR22725).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17</cp:revision>
  <dcterms:created xsi:type="dcterms:W3CDTF">2026-09-14T19:05:22Z</dcterms:created>
  <dcterms:modified xsi:type="dcterms:W3CDTF">2026-09-21T07:30:13Z</dcterms:modified>
</cp:coreProperties>
</file>